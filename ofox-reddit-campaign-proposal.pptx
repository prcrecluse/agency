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c0c9130e4d4292" /><Relationship Type="http://schemas.openxmlformats.org/officeDocument/2006/relationships/extended-properties" Target="/docProps/app.xml" Id="Rde3a37fc1ac14563" /><Relationship Type="http://schemas.openxmlformats.org/officeDocument/2006/relationships/officeDocument" Target="/ppt/presentation.xml" Id="R984afea1d65b4a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99b7cb1bc0465c"/>
  </p:sldMasterIdLst>
  <p:notesMasterIdLst>
    <p:notesMasterId xmlns:r="http://schemas.openxmlformats.org/officeDocument/2006/relationships" r:id="R65d4321ed4d34d3a"/>
  </p:notesMasterIdLst>
  <p:sldIdLst>
    <p:sldId xmlns:r="http://schemas.openxmlformats.org/officeDocument/2006/relationships" id="256" r:id="Rf27703aa20f74138"/>
    <p:sldId xmlns:r="http://schemas.openxmlformats.org/officeDocument/2006/relationships" id="257" r:id="Rf2dd5fdf601046bd"/>
    <p:sldId xmlns:r="http://schemas.openxmlformats.org/officeDocument/2006/relationships" id="258" r:id="R268f3071c7a74fa6"/>
    <p:sldId xmlns:r="http://schemas.openxmlformats.org/officeDocument/2006/relationships" id="259" r:id="R03161c22d67f45c6"/>
    <p:sldId xmlns:r="http://schemas.openxmlformats.org/officeDocument/2006/relationships" id="260" r:id="Ra1833e610a2a4030"/>
    <p:sldId xmlns:r="http://schemas.openxmlformats.org/officeDocument/2006/relationships" id="261" r:id="Rf636c8f91c674d07"/>
    <p:sldId xmlns:r="http://schemas.openxmlformats.org/officeDocument/2006/relationships" id="262" r:id="R95a718b40f1b47d5"/>
    <p:sldId xmlns:r="http://schemas.openxmlformats.org/officeDocument/2006/relationships" id="263" r:id="R3d6dfa192e174a13"/>
    <p:sldId xmlns:r="http://schemas.openxmlformats.org/officeDocument/2006/relationships" id="264" r:id="Rd591df5e617d4a2b"/>
    <p:sldId xmlns:r="http://schemas.openxmlformats.org/officeDocument/2006/relationships" id="265" r:id="Rf1717174b2714b90"/>
    <p:sldId xmlns:r="http://schemas.openxmlformats.org/officeDocument/2006/relationships" id="266" r:id="Ree5fdc31b91c468b"/>
    <p:sldId xmlns:r="http://schemas.openxmlformats.org/officeDocument/2006/relationships" id="267" r:id="Radc2a60cc16d4df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b6ab470fd94472" /><Relationship Type="http://schemas.openxmlformats.org/officeDocument/2006/relationships/slideMaster" Target="/ppt/slideMasters/slideMaster1.xml" Id="R1599b7cb1bc0465c" /><Relationship Type="http://schemas.openxmlformats.org/officeDocument/2006/relationships/notesMaster" Target="/ppt/notesMasters/notesMaster1.xml" Id="R65d4321ed4d34d3a" /><Relationship Type="http://schemas.openxmlformats.org/officeDocument/2006/relationships/presProps" Target="/ppt/presProps.xml" Id="R953c259cc5ef4156" /><Relationship Type="http://schemas.openxmlformats.org/officeDocument/2006/relationships/viewProps" Target="/ppt/viewProps.xml" Id="R0c371764d0c042d0" /><Relationship Type="http://schemas.openxmlformats.org/officeDocument/2006/relationships/tableStyles" Target="/ppt/tableStyles.xml" Id="R80b09944635441b5" /><Relationship Type="http://schemas.openxmlformats.org/officeDocument/2006/relationships/slide" Target="/ppt/slides/slide1.xml" Id="Rf27703aa20f74138" /><Relationship Type="http://schemas.openxmlformats.org/officeDocument/2006/relationships/slide" Target="/ppt/slides/slide2.xml" Id="Rf2dd5fdf601046bd" /><Relationship Type="http://schemas.openxmlformats.org/officeDocument/2006/relationships/slide" Target="/ppt/slides/slide3.xml" Id="R268f3071c7a74fa6" /><Relationship Type="http://schemas.openxmlformats.org/officeDocument/2006/relationships/slide" Target="/ppt/slides/slide4.xml" Id="R03161c22d67f45c6" /><Relationship Type="http://schemas.openxmlformats.org/officeDocument/2006/relationships/slide" Target="/ppt/slides/slide5.xml" Id="Ra1833e610a2a4030" /><Relationship Type="http://schemas.openxmlformats.org/officeDocument/2006/relationships/slide" Target="/ppt/slides/slide6.xml" Id="Rf636c8f91c674d07" /><Relationship Type="http://schemas.openxmlformats.org/officeDocument/2006/relationships/slide" Target="/ppt/slides/slide7.xml" Id="R95a718b40f1b47d5" /><Relationship Type="http://schemas.openxmlformats.org/officeDocument/2006/relationships/slide" Target="/ppt/slides/slide8.xml" Id="R3d6dfa192e174a13" /><Relationship Type="http://schemas.openxmlformats.org/officeDocument/2006/relationships/slide" Target="/ppt/slides/slide9.xml" Id="Rd591df5e617d4a2b" /><Relationship Type="http://schemas.openxmlformats.org/officeDocument/2006/relationships/slide" Target="/ppt/slides/slide10.xml" Id="Rf1717174b2714b90" /><Relationship Type="http://schemas.openxmlformats.org/officeDocument/2006/relationships/slide" Target="/ppt/slides/slide11.xml" Id="Ree5fdc31b91c468b" /><Relationship Type="http://schemas.openxmlformats.org/officeDocument/2006/relationships/slide" Target="/ppt/slides/slide12.xml" Id="Radc2a60cc16d4d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4fe1d2535346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a16b730ba049b4" /><Relationship Type="http://schemas.openxmlformats.org/officeDocument/2006/relationships/notesMaster" Target="/ppt/notesMasters/notesMaster1.xml" Id="Rb4c705c20ed34d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76e0f0823740a9" /><Relationship Type="http://schemas.openxmlformats.org/officeDocument/2006/relationships/notesMaster" Target="/ppt/notesMasters/notesMaster1.xml" Id="R76a9ddcac3e24c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89d7a5258f4e44" /><Relationship Type="http://schemas.openxmlformats.org/officeDocument/2006/relationships/notesMaster" Target="/ppt/notesMasters/notesMaster1.xml" Id="R34f3d517c0ea4d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d6ef4d125e41a3" /><Relationship Type="http://schemas.openxmlformats.org/officeDocument/2006/relationships/notesMaster" Target="/ppt/notesMasters/notesMaster1.xml" Id="Rf79f758bfa8f48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7ec3f7f0f24295" /><Relationship Type="http://schemas.openxmlformats.org/officeDocument/2006/relationships/notesMaster" Target="/ppt/notesMasters/notesMaster1.xml" Id="Rc5816f8e773e40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10fdd217764477" /><Relationship Type="http://schemas.openxmlformats.org/officeDocument/2006/relationships/notesMaster" Target="/ppt/notesMasters/notesMaster1.xml" Id="R1e8f7656a9d446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6678f954564893" /><Relationship Type="http://schemas.openxmlformats.org/officeDocument/2006/relationships/notesMaster" Target="/ppt/notesMasters/notesMaster1.xml" Id="R0d07b8bc746940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3ccc60749848f4" /><Relationship Type="http://schemas.openxmlformats.org/officeDocument/2006/relationships/notesMaster" Target="/ppt/notesMasters/notesMaster1.xml" Id="R8daa02787b414e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2bc58a08244e4d" /><Relationship Type="http://schemas.openxmlformats.org/officeDocument/2006/relationships/notesMaster" Target="/ppt/notesMasters/notesMaster1.xml" Id="R459bb739774440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1aeb1217924223" /><Relationship Type="http://schemas.openxmlformats.org/officeDocument/2006/relationships/notesMaster" Target="/ppt/notesMasters/notesMaster1.xml" Id="R4947e7ca64a94a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50ce29e0e74029" /><Relationship Type="http://schemas.openxmlformats.org/officeDocument/2006/relationships/notesMaster" Target="/ppt/notesMasters/notesMaster1.xml" Id="Rbfa592f320594b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b204648d8f42b1" /><Relationship Type="http://schemas.openxmlformats.org/officeDocument/2006/relationships/notesMaster" Target="/ppt/notesMasters/notesMaster1.xml" Id="R103479c8a83a40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https://ofox.ai/vs/openrouter</a:t>
            </a:r>
            <a:endParaRPr/>
          </a:p>
          <a:p xmlns:a="http://schemas.openxmlformats.org/drawingml/2006/main">
            <a:r>
              <a:t>https://openrouter.ai/pricing</a:t>
            </a:r>
            <a:endParaRPr/>
          </a:p>
          <a:p xmlns:a="http://schemas.openxmlformats.org/drawingml/2006/main">
            <a:r>
              <a:t>https://x.com/AiHubMix/status/2085260781705388444</a:t>
            </a:r>
            <a:endParaRPr/>
          </a:p>
          <a:p xmlns:a="http://schemas.openxmlformats.org/drawingml/2006/main">
            <a:r>
              <a:t>https://www.reddit.com/r/GeminiAI/</a:t>
            </a:r>
            <a:endParaRPr/>
          </a:p>
          <a:p xmlns:a="http://schemas.openxmlformats.org/drawingml/2006/main">
            <a:r>
              <a:t>https://www.reddit.com/r/LLMDevs/</a:t>
            </a:r>
            <a:endParaRPr/>
          </a:p>
          <a:p xmlns:a="http://schemas.openxmlformats.org/drawingml/2006/main">
            <a:r>
              <a:t>https://www.reddit.com/r/kimi/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5fe2809504f0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3ad3f6ce294f05" /><Relationship Type="http://schemas.openxmlformats.org/officeDocument/2006/relationships/slideLayout" Target="/ppt/slideLayouts/slideLayout1.xml" Id="Re250e2b79c4b426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50e2b79c4b426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25671567748c9" /><Relationship Type="http://schemas.openxmlformats.org/officeDocument/2006/relationships/image" Target="/ppt/media/image.jpeg" Id="R1f50e9ee39e7421a" /><Relationship Type="http://schemas.openxmlformats.org/officeDocument/2006/relationships/notesSlide" Target="/ppt/notesSlides/notesSlide1.xml" Id="R8a925781790c41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41af404c3418d" /><Relationship Type="http://schemas.openxmlformats.org/officeDocument/2006/relationships/image" Target="/ppt/media/image2.jpeg" Id="R37f9b16e26b64e5e" /><Relationship Type="http://schemas.openxmlformats.org/officeDocument/2006/relationships/notesSlide" Target="/ppt/notesSlides/notesSlide2.xml" Id="Ra02c2df3ba394f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9d5e806bd45ca" /><Relationship Type="http://schemas.openxmlformats.org/officeDocument/2006/relationships/image" Target="/ppt/media/image2.jpeg" Id="R11521906a1284012" /><Relationship Type="http://schemas.openxmlformats.org/officeDocument/2006/relationships/notesSlide" Target="/ppt/notesSlides/notesSlide3.xml" Id="R5525e48f34b44b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03a374af840aa" /><Relationship Type="http://schemas.openxmlformats.org/officeDocument/2006/relationships/image" Target="/ppt/media/image2.jpeg" Id="R694d7403568d4831" /><Relationship Type="http://schemas.openxmlformats.org/officeDocument/2006/relationships/notesSlide" Target="/ppt/notesSlides/notesSlide4.xml" Id="R2973b1fcba5742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826d159404295" /><Relationship Type="http://schemas.openxmlformats.org/officeDocument/2006/relationships/image" Target="/ppt/media/image2.jpeg" Id="Rd3e78171f8a142f0" /><Relationship Type="http://schemas.openxmlformats.org/officeDocument/2006/relationships/notesSlide" Target="/ppt/notesSlides/notesSlide5.xml" Id="R6884dc98e3de48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7182c3e5a4bd5" /><Relationship Type="http://schemas.openxmlformats.org/officeDocument/2006/relationships/image" Target="/ppt/media/image2.jpeg" Id="R2ae8dce9e9134857" /><Relationship Type="http://schemas.openxmlformats.org/officeDocument/2006/relationships/notesSlide" Target="/ppt/notesSlides/notesSlide6.xml" Id="R112d79a46a9f45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55635c4fd480d" /><Relationship Type="http://schemas.openxmlformats.org/officeDocument/2006/relationships/image" Target="/ppt/media/image2.jpeg" Id="R473d31d4eb8942a9" /><Relationship Type="http://schemas.openxmlformats.org/officeDocument/2006/relationships/notesSlide" Target="/ppt/notesSlides/notesSlide7.xml" Id="R2eccfd43bb2749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b2d9a95424bb6" /><Relationship Type="http://schemas.openxmlformats.org/officeDocument/2006/relationships/image" Target="/ppt/media/image2.jpeg" Id="R4eecd8ce7de84261" /><Relationship Type="http://schemas.openxmlformats.org/officeDocument/2006/relationships/notesSlide" Target="/ppt/notesSlides/notesSlide8.xml" Id="Rfbe2ad82113043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60f8c8b244ccf" /><Relationship Type="http://schemas.openxmlformats.org/officeDocument/2006/relationships/image" Target="/ppt/media/image2.jpeg" Id="R131e587efaec4f7c" /><Relationship Type="http://schemas.openxmlformats.org/officeDocument/2006/relationships/notesSlide" Target="/ppt/notesSlides/notesSlide9.xml" Id="R9f80e1f886894b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565d49fec4a74" /><Relationship Type="http://schemas.openxmlformats.org/officeDocument/2006/relationships/image" Target="/ppt/media/image3.jpeg" Id="R928c8c860fb944fe" /><Relationship Type="http://schemas.openxmlformats.org/officeDocument/2006/relationships/notesSlide" Target="/ppt/notesSlides/notesSlide10.xml" Id="R8457e6fab84840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7f429f6524458" /><Relationship Type="http://schemas.openxmlformats.org/officeDocument/2006/relationships/image" Target="/ppt/media/image2.jpeg" Id="Re0c488f1055a4903" /><Relationship Type="http://schemas.openxmlformats.org/officeDocument/2006/relationships/notesSlide" Target="/ppt/notesSlides/notesSlide11.xml" Id="Rf4e68d8b2cc54b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e5ed0124e46d9" /><Relationship Type="http://schemas.openxmlformats.org/officeDocument/2006/relationships/image" Target="/ppt/media/image2.jpeg" Id="R6939e5b7fc79479d" /><Relationship Type="http://schemas.openxmlformats.org/officeDocument/2006/relationships/notesSlide" Target="/ppt/notesSlides/notesSlide12.xml" Id="Rf003419781a140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0e9ee39e742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820704C7-5CE5-4AA0-8085-79E72B6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576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821F809-B6AC-4A26-B5FE-B0B95627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0973"/>
            <a:ext cx="1964531" cy="4357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7050D90-48AD-4030-BCEC-E80F6640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0973"/>
            <a:ext cx="1964531" cy="4549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2161" tIns="136017" rIns="272161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30 Posts · 10 Days</a:t>
            </a:r>
            <a:endParaRPr sz="1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5422777-BDBA-4B39-9E3E-F40B100F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2492"/>
            <a:ext cx="2514600" cy="6400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6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Reddit Campaign Proposal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E3D8DC-70FA-4D8A-B62D-14E91E73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75922"/>
            <a:ext cx="4343400" cy="10058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8000"/>
              </a:lnSpc>
              <a:buNone/>
            </a:pPr>
            <a:r>
              <a:rPr sz="3300" b="1" spc="-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oFox.ai Reddit</a:t>
            </a:r>
            <a:endParaRPr sz="3300"/>
          </a:p>
          <a:p xmlns:a="http://schemas.openxmlformats.org/drawingml/2006/main">
            <a:pPr marL="0" indent="0" algn="l">
              <a:lnSpc>
                <a:spcPct val="88000"/>
              </a:lnSpc>
              <a:buNone/>
            </a:pPr>
            <a:r>
              <a:rPr sz="3300" b="1" spc="-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Campaign Strategy</a:t>
            </a:r>
            <a:endParaRPr sz="3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52793A9-AEA4-4C5E-A48D-9776BE7D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29985"/>
            <a:ext cx="3048595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Model launches. Price proof. Real tests.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68E5853-00DD-4007-9FC7-9DE19217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38953"/>
            <a:ext cx="414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6B7280"/>
                </a:solidFill>
                <a:latin typeface="Inter"/>
                <a:ea typeface="Inter"/>
                <a:cs typeface="Inter"/>
              </a:rPr>
              <a:t>Turn every new model release into a credible Reddit conversation.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662789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9b16e26b64e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FFAB172-4379-4765-A3F4-0B712F6F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835E2A3-01F1-4A39-8E89-D044AFA8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Reddit 是 AI 模型选择与 API 采购决策的前线</a:t>
            </a:r>
            <a:endParaRPr sz="1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A722F32-8E70-4B13-8019-D83E2B85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09092"/>
            <a:ext cx="3929063" cy="10285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开发者会在 Reddit 搜索“哪个模型更好”“API 网关是否加价”“真实跑分如何”。这类讨论发生在需求形成阶段，比品牌广告更接近实际切换与采购。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F7B5503-44FC-4B3C-95F8-09C4C791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66281"/>
            <a:ext cx="3929063" cy="822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目标不是重复产品卖点，而是持续提供可复现的测试、透明价格与真实失败案例，让 oFox.ai 成为模型发布当天就能被引用的实测来源。</a:t>
            </a:r>
            <a:endParaRPr sz="9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82CFEE2-7864-4F66-B548-2F96C20C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309092"/>
            <a:ext cx="1878806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71C3547-3D46-4595-9619-A2A3D797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309092"/>
            <a:ext cx="28575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D07F582-F383-41BD-AF1C-57227794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23405"/>
            <a:ext cx="1450181" cy="348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4 类</a:t>
            </a:r>
            <a:endParaRPr sz="1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F809675-9A7D-4302-B87D-E1B09C9A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28813"/>
            <a:ext cx="1450181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6B7280"/>
                </a:solidFill>
                <a:latin typeface="Inter SemiBold"/>
                <a:ea typeface="Inter SemiBold"/>
                <a:cs typeface="Inter SemiBold"/>
              </a:rPr>
              <a:t>核心内容钩子</a:t>
            </a:r>
            <a:endParaRPr sz="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69712BE-E76F-4CFF-86D1-BD1BAA67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569" y="1309092"/>
            <a:ext cx="1878806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84D8CE5-91B0-4B97-B935-E411C9DC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569" y="1309092"/>
            <a:ext cx="28575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46BDBB4-B694-4780-A61A-666F821A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881" y="1523405"/>
            <a:ext cx="1450181" cy="348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3+</a:t>
            </a:r>
            <a:endParaRPr sz="18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95A3226-33E3-476E-A10F-DFDFA8D1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881" y="1928813"/>
            <a:ext cx="1450181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6B7280"/>
                </a:solidFill>
                <a:latin typeface="Inter SemiBold"/>
                <a:ea typeface="Inter SemiBold"/>
                <a:cs typeface="Inter SemiBold"/>
              </a:rPr>
              <a:t>必投垂直社区</a:t>
            </a:r>
            <a:endParaRPr sz="8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5E91286-6704-4BB7-9343-6BECC592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469952"/>
            <a:ext cx="1878806" cy="953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E500783-6C74-48F1-8577-5969E74B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469952"/>
            <a:ext cx="28575" cy="953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81FAA79-9512-45BB-8305-484A65AA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84264"/>
            <a:ext cx="1450181" cy="3125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10 天</a:t>
            </a:r>
            <a:endParaRPr sz="18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089C92A-7138-46D8-8E9F-6BF38548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53953"/>
            <a:ext cx="1450181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6B7280"/>
                </a:solidFill>
                <a:latin typeface="Inter SemiBold"/>
                <a:ea typeface="Inter SemiBold"/>
                <a:cs typeface="Inter SemiBold"/>
              </a:rPr>
              <a:t>首轮 campaign</a:t>
            </a:r>
            <a:endParaRPr sz="8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3B0A8CF-1454-4049-AB2C-F2DA39C7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569" y="2469952"/>
            <a:ext cx="1878806" cy="953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3E50958-D662-4FC5-A5B3-D0939DF3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569" y="2469952"/>
            <a:ext cx="28575" cy="9536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20F7FDF-FD4A-4C15-8AD5-0BC43F4B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881" y="2684264"/>
            <a:ext cx="1450181" cy="3125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30</a:t>
            </a:r>
            <a:endParaRPr sz="1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836107E-D175-4E89-ADF9-8B5BBE66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881" y="3053953"/>
            <a:ext cx="1450181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6B7280"/>
                </a:solidFill>
                <a:latin typeface="Inter SemiBold"/>
                <a:ea typeface="Inter SemiBold"/>
                <a:cs typeface="Inter SemiBold"/>
              </a:rPr>
              <a:t>主贴</a:t>
            </a:r>
            <a:endParaRPr sz="8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56DE029-8AF4-4188-9BD7-88092557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595092"/>
            <a:ext cx="3929063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93F8E5D-D032-4727-8306-8161837E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595092"/>
            <a:ext cx="28575" cy="989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1AE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83435C4-F478-437A-AAEB-066D97A3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09405"/>
            <a:ext cx="3500438" cy="348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 spc="-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持续</a:t>
            </a:r>
            <a:endParaRPr sz="1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5D6853B-9052-415B-851B-57CDF6FD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14813"/>
            <a:ext cx="3500438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6B7280"/>
                </a:solidFill>
                <a:latin typeface="Inter SemiBold"/>
                <a:ea typeface="Inter SemiBold"/>
                <a:cs typeface="Inter SemiBold"/>
              </a:rPr>
              <a:t>模型发布雷达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595746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21906a12840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5D75BC0F-FC4A-4AFA-955B-F56E8154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DE98D4C-2F7A-43A5-AF85-B1C9A8B5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我们的优势不是“更便宜”一句话，而是三种可验证证据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4DD0B16-1B0C-46DA-AA09-8D558230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467"/>
            <a:ext cx="4572000" cy="21315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6E154C0-19D3-4EDF-A8B6-0644AB62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50125"/>
            <a:ext cx="37147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证据 1 — OpenRouter 成本对照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BF97FB1-82A7-4746-8B3A-BD803E83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25172"/>
            <a:ext cx="3714750" cy="617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以同一模型、同一 token 用量比较最终到账成本。OpenRouter 公示信用卡充值费 5.5%；oFox.ai 主张官方模型价直通、无充值加价。每帖附计算条件与日期。</a:t>
            </a:r>
            <a:endParaRPr sz="9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C19EB6E-F40B-41C7-891E-E5448BF2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80467"/>
            <a:ext cx="4572000" cy="21315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EC20513-1E5B-46FD-8194-88987617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50125"/>
            <a:ext cx="37147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证据 2 — Wan 3.0 热点实测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AA7D976-9D29-4F3B-BD50-16E3C7AD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25172"/>
            <a:ext cx="3714750" cy="617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55C4E"/>
                </a:solidFill>
                <a:latin typeface="Inter"/>
                <a:ea typeface="Inter"/>
                <a:cs typeface="Inter"/>
              </a:rPr>
              <a:t>发布原 prompt、参数、生成时间、成本与结果： “I tested this prompt on Wan 3.0 on oFox.ai — here’s what I got.” 让用户先评结果，再自然发现入口。</a:t>
            </a:r>
            <a:endParaRPr sz="9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2EDF588-F2A1-4E25-86D9-4E1C8A1B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11984"/>
            <a:ext cx="4572000" cy="21315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1AE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5322F24-4A56-455D-8766-A581D567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81642"/>
            <a:ext cx="37147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证据 3 — 同题模型对比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F6D8BD0-F6AC-4EFA-8106-CD0D5429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56689"/>
            <a:ext cx="3714750" cy="617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复用 AiHubMix 的形式：同一 prompt、同一 gateway，比较成本、首轮成功率与返工次数；不只报 benchmark，报告完成任务的总成本。</a:t>
            </a:r>
            <a:endParaRPr sz="9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E4CF4C0-33AE-4BF9-B5B8-FF1E2D75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1984"/>
            <a:ext cx="4572000" cy="21315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69059B5-97BD-43A6-B52D-B6EBA9A4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81642"/>
            <a:ext cx="37147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证据 4 — 发布日抢跑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F992166-3328-4F47-B0A7-8F74719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56689"/>
            <a:ext cx="3714750" cy="617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建立 Gemini、Kimi、DeepSeek、Qwen、Wan 等模型监测清单；上线后 24 小时内完成可复现实测，48 小时内发布多社区版本。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9648393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d7403568d4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B713113-60A8-456C-9955-B8B83DB3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AD7FA7E-BDF2-4E78-B373-1C473D81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X 上的对比格式已经证明：价格与可靠性必须一起讲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3069E4F-7631-42AC-B0C4-064AB84E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467"/>
            <a:ext cx="3047981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72D013-DFDD-4AC2-9ABD-3D516D36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3909"/>
            <a:ext cx="2190731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5×</a:t>
            </a:r>
            <a:endParaRPr sz="24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D91A13D-3E84-4550-A4D4-BD4E8AEF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83972"/>
            <a:ext cx="2190731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DeepSeek V4 Flash 0731 更便宜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993DEB1-92EF-4E94-A072-747C58A4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21139"/>
            <a:ext cx="2190731" cy="135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</a:rPr>
              <a:t>AiHubMix 单次测试：$0.02</a:t>
            </a:r>
            <a:endParaRPr sz="7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E837389-CE69-4E7A-B96F-F4E9A22D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981" y="880467"/>
            <a:ext cx="3048009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91C5E44-D16D-4FCD-BB32-B39A1E38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1183909"/>
            <a:ext cx="2190759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$0.10</a:t>
            </a:r>
            <a:endParaRPr sz="24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48899E0-5E4E-4996-960A-5E7BDE35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1683972"/>
            <a:ext cx="2190759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GPT-5.6 Luna 成本</a:t>
            </a:r>
            <a:endParaRPr sz="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A2D63A5-AF4B-4378-8447-B355C1FD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1921139"/>
            <a:ext cx="2190759" cy="135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020817">
                    <a:alpha val="80000"/>
                  </a:srgbClr>
                </a:solidFill>
                <a:latin typeface="Inter"/>
                <a:ea typeface="Inter"/>
                <a:cs typeface="Inter"/>
              </a:rPr>
              <a:t>但首轮完成且结果更可靠</a:t>
            </a:r>
            <a:endParaRPr sz="7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27992DB-DD78-4B94-85FF-BCBF4A19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1" y="880467"/>
            <a:ext cx="3047981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206D713-5AA3-4E7B-A87B-6EE7641B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1183909"/>
            <a:ext cx="2190731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1 vs 3</a:t>
            </a:r>
            <a:endParaRPr sz="24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BE65D17-9E6D-4DFC-92C0-F2176C0C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1683972"/>
            <a:ext cx="2190731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完成所需尝试次数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458555A-2B74-4508-B719-86B20FE8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1921139"/>
            <a:ext cx="2190731" cy="135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</a:rPr>
              <a:t>可靠性会改变“真实总成本”</a:t>
            </a:r>
            <a:endParaRPr sz="7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205AE7F-19EE-4B92-8CF2-C2CB6D64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60312"/>
            <a:ext cx="3047981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8979A9-1E3F-4701-A9FE-BAE01AC2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70897"/>
            <a:ext cx="2190731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同题</a:t>
            </a:r>
            <a:endParaRPr sz="24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459BD18-4231-4D75-9CAB-66C260B3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70960"/>
            <a:ext cx="2190731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Same prompt</a:t>
            </a:r>
            <a:endParaRPr sz="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30CBF3F-CB6A-4845-A1F8-F946E503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08127"/>
            <a:ext cx="2190731" cy="121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</a:rPr>
              <a:t>避免 benchmark 口水战</a:t>
            </a:r>
            <a:endParaRPr sz="7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B09F9ED-D15D-4C5F-9518-EA79E631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981" y="2360312"/>
            <a:ext cx="3048009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4A1C8AE-AC1F-4167-84CB-7E78E029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2663754"/>
            <a:ext cx="2190759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同网关</a:t>
            </a:r>
            <a:endParaRPr sz="24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B500614-2096-4B7B-8C58-9F7620B7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3163816"/>
            <a:ext cx="2190759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Same gateway</a:t>
            </a:r>
            <a:endParaRPr sz="9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2C62467-1E5C-4F68-92D2-2D40A842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06" y="3400983"/>
            <a:ext cx="2190759" cy="135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</a:rPr>
              <a:t>控制变量，结果更可信</a:t>
            </a:r>
            <a:endParaRPr sz="7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01F94D2-08F4-4CB7-8791-B45E16F3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1" y="2360312"/>
            <a:ext cx="3047981" cy="1479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33563FD-FFB0-4902-ACD2-14FFA35D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2670897"/>
            <a:ext cx="2190731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结论</a:t>
            </a:r>
            <a:endParaRPr sz="24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F81C4DE-0632-4707-9B3E-2709E4B6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3170960"/>
            <a:ext cx="2190731" cy="1800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不要只做“最便宜”叙事</a:t>
            </a:r>
            <a:endParaRPr sz="9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BF1833F-C817-46BF-90E9-3ABCA8F6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16" y="3408127"/>
            <a:ext cx="219073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020817">
                    <a:alpha val="80000"/>
                  </a:srgbClr>
                </a:solidFill>
                <a:latin typeface="Inter"/>
                <a:ea typeface="Inter"/>
                <a:cs typeface="Inter"/>
              </a:rPr>
              <a:t>oFox.ai 应提供价格、成功率、延迟与返工次数四维证据</a:t>
            </a:r>
            <a:endParaRPr sz="7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424FF5E-8270-43DF-BACB-1782D3E2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40156"/>
            <a:ext cx="9144000" cy="1303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A2751BD-67D4-4C06-903F-D2B0129B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25906"/>
            <a:ext cx="8286750" cy="4800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200" i="1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来源：AiHubMix X 帖（2026-08-25 核实）</a:t>
            </a:r>
            <a:endParaRPr sz="12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838F31D-4A67-48C5-8122-2B3E5C19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20233"/>
            <a:ext cx="8286750" cy="1375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38125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6B7280"/>
                </a:solidFill>
                <a:latin typeface="Inter"/>
                <a:ea typeface="Inter"/>
                <a:cs typeface="Inter"/>
              </a:rPr>
              <a:t>— AIHubMix, X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3115027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78171f8a142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49FF511A-5681-4F9D-8FD8-03BD44E8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BFFAE1A-AD95-4499-967B-13145AED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Reddit 用户会奖励透明实测，不会奖励包装后的广告</a:t>
            </a:r>
            <a:endParaRPr sz="16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B73F1AC-FE70-4F4F-98AF-7D154CC5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3765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10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每篇主贴都提供 prompt、参数、模型版本、时间戳和费用；标题先说结论，正文展示过程，链接与品牌信息放在用户明确询问之后。</a:t>
            </a:r>
            <a:endParaRPr sz="10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884D1F5-B5C3-4D8A-B57B-0F41B9D3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52042"/>
            <a:ext cx="2571750" cy="2734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03350F3-824A-43D1-9275-6182383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7792"/>
            <a:ext cx="200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01</a:t>
            </a:r>
            <a:endParaRPr sz="24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7904E99-CFD6-476C-B5F5-9A288DA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005"/>
            <a:ext cx="20002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可复现优先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4413944-43FE-4DA7-BB6A-9FB8477B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0052"/>
            <a:ext cx="2000250" cy="731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提供完整测试条件和失败样本。让读者能在任意 gateway 重跑；oFox.ai 的优势由结果自然得出。</a:t>
            </a:r>
            <a:endParaRPr sz="8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08AE30-38F8-45BB-9E30-B8FEF17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52042"/>
            <a:ext cx="2571750" cy="2734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14E93BB-5676-46CF-9AFA-F3431101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7792"/>
            <a:ext cx="200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02</a:t>
            </a:r>
            <a:endParaRPr sz="24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F712809-FFB7-4916-940F-96640EE3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005"/>
            <a:ext cx="20002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承认边界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AE7CB37-4958-4223-AD64-E0FD8532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70052"/>
            <a:ext cx="2000250" cy="663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OpenRouter 可能在生态、路由或覆盖面上有优势；不要声称所有模型都更贵，只比较有截图与账单依据的场景。</a:t>
            </a:r>
            <a:endParaRPr sz="8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273BC03-6532-4BEC-8939-D0A47F59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52042"/>
            <a:ext cx="2571750" cy="2734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E42BE05-F728-4C02-99B4-C44BA11F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7792"/>
            <a:ext cx="200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50" b="1" spc="-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03</a:t>
            </a:r>
            <a:endParaRPr sz="24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AF79473-323C-445F-9453-74B0D718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95005"/>
            <a:ext cx="20002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社区原生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6155500-7BA1-4626-9BE4-8762DF3A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70052"/>
            <a:ext cx="2000250" cy="731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同一测试按社区改写：Gemini 用户看质量，LLMDevs 看 API/延迟，Kimi 用户看上下文与 agent 任务。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9096343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8dce9e9134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F780A9E3-5B5C-4C92-8D6A-434C3DF7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7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C490890-E125-4E2A-B483-9D9CEEA7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3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r/GeminiAI — 用新版本实测切入高热度模型讨论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3797F86-19AD-4900-B489-EC17AF27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80467"/>
            <a:ext cx="2930361" cy="2870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5C7D48F-51EC-4DEA-BB61-2CD6E4B3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23342"/>
            <a:ext cx="2644611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社区画像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93152E4-DEB3-4C1B-B71B-8DCBA71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69814"/>
            <a:ext cx="2644611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受众：Gemini 重度用户、创作者、开发者与评测爱好者</a:t>
            </a:r>
            <a:endParaRPr sz="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B585D8E-843F-4532-8149-87BF7E64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98439"/>
            <a:ext cx="264461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当前热点：Gemini 3.7 Flash 体验、Beyond the Benchmark、真实用例</a:t>
            </a:r>
            <a:endParaRPr sz="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F40339-1F7F-451A-B9C2-146E5216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55614"/>
            <a:ext cx="264461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推广风险：产品直链容易被视为广告；结果图与方法论更安全</a:t>
            </a:r>
            <a:endParaRPr sz="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695E566-07BE-4036-8B50-B2FED579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12789"/>
            <a:ext cx="264461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最佳形式：原生结果图 + prompt + “你们会怎么改？”</a:t>
            </a:r>
            <a:endParaRPr sz="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2E4BA62-975E-4AA3-9C71-EDA2B706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36194"/>
            <a:ext cx="2930361" cy="1164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6DA6407-9983-42E5-9A81-922F5AD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3950494"/>
            <a:ext cx="2616036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备选方案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5E5979F-FA52-4911-B50F-0575F425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4200525"/>
            <a:ext cx="2616036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055C4E"/>
                </a:solidFill>
                <a:latin typeface="Inter SemiBold"/>
                <a:ea typeface="Inter SemiBold"/>
                <a:cs typeface="Inter SemiBold"/>
              </a:rPr>
              <a:t>若主贴被移除，改为对现有 Gemini 3.7 讨论做深度评论；不放链接，只回答复现条件。</a:t>
            </a:r>
            <a:endParaRPr sz="8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AE6D30C-97C3-4386-AD14-2441447D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136" y="880467"/>
            <a:ext cx="5442114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推荐内容方向</a:t>
            </a:r>
            <a:endParaRPr sz="12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352DDA-0F13-4B93-8095-DB478E8A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136" y="1226939"/>
            <a:ext cx="5442114" cy="1067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5230C65-E11C-4D96-9254-D5716AF6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1326952"/>
            <a:ext cx="5156364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内容 1 — 版本首测（Post）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904378-0BD5-4A17-A5E9-9877E036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1576983"/>
            <a:ext cx="5156364" cy="3893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5000"/>
            </a:srgbClr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DCC9FE8-B593-4A1F-900E-40BAE35B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1576983"/>
            <a:ext cx="5156364" cy="3893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i="1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“I ran the same real-world prompt on Gemini 3.7 Flash and [model] — the cheaper run wasn’t the winner.”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9A64530-0D70-40E8-81C4-096E9686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2023467"/>
            <a:ext cx="5156364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策略：用成功率、延迟、token 与最终成本解释差异。</a:t>
            </a:r>
            <a:endParaRPr sz="8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2206114-D609-4F91-9AB0-AE590732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136" y="2380655"/>
            <a:ext cx="5442114" cy="1101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1AE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F2AD3C1-0797-43EC-BFB9-3503A53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2480667"/>
            <a:ext cx="5156364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内容 2 — 图像/视频挑战（Post）</a:t>
            </a:r>
            <a:endParaRPr sz="10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011161F-D013-429E-86E4-24BE3B23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2730698"/>
            <a:ext cx="5156364" cy="251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5000"/>
            </a:srgbClr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B65F7A5-F0CE-42AD-9236-CB29F10E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2730698"/>
            <a:ext cx="5156364" cy="258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i="1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“One prompt, three attempts: what Gemini fixed — and what it still missed.”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CE4DBBA-E3F4-4ED8-8271-ABD7E0CD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3039666"/>
            <a:ext cx="515636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策略：公开失败轮次，邀请社区给改进 prompt。</a:t>
            </a:r>
            <a:endParaRPr sz="8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A1BC1FB-B1A6-42B4-A66B-7CE3B613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136" y="3568303"/>
            <a:ext cx="5442114" cy="792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DF8F3AA-E8ED-4AAE-A958-DFEAB10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3668316"/>
            <a:ext cx="5156364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内容 3 — 高价值评论（Comment）</a:t>
            </a:r>
            <a:endParaRPr sz="10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B0A97CE-F5D6-4FE3-8002-205BB99B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011" y="3918347"/>
            <a:ext cx="5156364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场景：新版本体验、限额、API 价格、模型退化讨论；提供可复现数据，不做品牌口号。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801693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d31d4eb8942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E67A88C0-399A-4DE9-8E29-9A7834E3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994AD39-19A0-4BA8-9DB4-7B4B3483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r/LLMDevs — 技术可信度最高，但必须零营销味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32A5EF0-1B62-475E-A9B3-A48CB45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51917"/>
            <a:ext cx="3360409" cy="20580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7C05C7E-B4F3-4AAE-A569-3C153A8C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3367"/>
            <a:ext cx="3017509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社区画像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93FA4D4-94D5-4324-AEBD-45772689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4127"/>
            <a:ext cx="3017509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受众：LLM 工程师、研究者、agent/infra 开发者</a:t>
            </a:r>
            <a:endParaRPr sz="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1E1210C-8A65-401E-B9BF-6FD6DC6E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5578"/>
            <a:ext cx="3017509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当前规则：明确反自我推广、反营销；未经批准的 promotion 风险高</a:t>
            </a:r>
            <a:endParaRPr sz="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71E885D-110B-4564-A3E2-B458E425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4166"/>
            <a:ext cx="3017509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适合内容：网关成本、失败分类、重试策略、延迟与可观测性</a:t>
            </a:r>
            <a:endParaRPr sz="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21F4C23-9EEB-4636-A461-814299F4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2755"/>
            <a:ext cx="3017509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核心指标：TTFT、总延迟、成功率、重试、每个成功任务成本</a:t>
            </a:r>
            <a:endParaRPr sz="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B2B8B47-1D38-4D69-911C-CAB9575C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81381"/>
            <a:ext cx="3360409" cy="10272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AD2DE9-9981-45EF-87A3-2E9F6EB5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5681"/>
            <a:ext cx="3017509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备选方案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EC20F34-9B1B-4FA4-9AEB-71566817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5712"/>
            <a:ext cx="3017509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055C4E"/>
                </a:solidFill>
                <a:latin typeface="Inter SemiBold"/>
                <a:ea typeface="Inter SemiBold"/>
                <a:cs typeface="Inter SemiBold"/>
              </a:rPr>
              <a:t>先联系 mod 审批；若不获批，只以非品牌技术帖或高质量评论参与，并将代码/数据置于中立仓库。</a:t>
            </a:r>
            <a:endParaRPr sz="8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935815D-E36B-4DA3-9893-D684904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09" y="1051917"/>
            <a:ext cx="5040641" cy="30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A2913A1-A1EB-439F-9D98-40EB74EF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59" y="1223367"/>
            <a:ext cx="4697741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推荐内容方向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165211E-DF48-4BEC-B59B-ED50442C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59" y="1598414"/>
            <a:ext cx="2291721" cy="1577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"/>
            </a:srgbClr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170F3CC-B2BD-4706-A7A0-E4D4CB0F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59" y="1712714"/>
            <a:ext cx="206312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内容 1 — 失败分类（Post）</a:t>
            </a:r>
            <a:endParaRPr sz="9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EFEA421-3577-44C1-9735-D38918A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59" y="1941314"/>
            <a:ext cx="2063121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i="1">
                <a:solidFill>
                  <a:srgbClr val="00D1AE"/>
                </a:solidFill>
                <a:latin typeface="Inter SemiBold"/>
                <a:ea typeface="Inter SemiBold"/>
                <a:cs typeface="Inter SemiBold"/>
              </a:rPr>
              <a:t>“I stopped treating every failed agent tool call as the same failure — here’s the retry matrix.”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53B4041-F701-4ADD-A6F1-113E18C9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59" y="2512814"/>
            <a:ext cx="2063121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策略：复用社区当前话题，把 gateway 价值嵌入工程方法。</a:t>
            </a:r>
            <a:endParaRPr sz="8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DEBB5A3-8909-410C-A341-F41960A2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079" y="1598414"/>
            <a:ext cx="2291721" cy="1577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"/>
            </a:srgbClr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A92284B-4435-43BF-8ED8-D3DF1AB8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79" y="1712714"/>
            <a:ext cx="206312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内容 2 — 网关对照（Post）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4242CFB-F168-494E-B633-936DE291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79" y="1941314"/>
            <a:ext cx="2063121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 i="1">
                <a:solidFill>
                  <a:srgbClr val="00D1AE"/>
                </a:solidFill>
                <a:latin typeface="Inter SemiBold"/>
                <a:ea typeface="Inter SemiBold"/>
                <a:cs typeface="Inter SemiBold"/>
              </a:rPr>
              <a:t>“Same model, two gateways: fee, latency and retry-cost breakdown.”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A988BB1-3593-4138-B103-D952FE90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79" y="2512814"/>
            <a:ext cx="2063121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策略：列出时间、区域、样本量与限制，不下泛化结论。</a:t>
            </a:r>
            <a:endParaRPr sz="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B949DBA-D077-4C48-9431-89362FD7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059" y="3290004"/>
            <a:ext cx="4697741" cy="64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"/>
            </a:srgbClr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8B9CBE3-77A6-4AF0-9EF8-54A2569C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59" y="3404304"/>
            <a:ext cx="4469141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内容 3 — Mod-approved AMA / Comment</a:t>
            </a:r>
            <a:endParaRPr sz="9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5B8BE9DA-B07F-4A5A-862C-A9A3B9E7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59" y="3632904"/>
            <a:ext cx="4469141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场景：模型上线与 API 变更讨论；以工程师身份回答接入、路由与账单问题。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7697926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cd8ce7de84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E96A3-A082-4782-8A98-7351B44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466576-9C48-456C-B612-E9A612BD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r/kimi + 模型垂直社区 — 在发布日承接最强搜索意图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A88E376-9928-4C4A-8269-57D3AA07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467"/>
            <a:ext cx="3200400" cy="3067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32801F6-C3F0-4A59-BDE4-DE643E7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73336"/>
            <a:ext cx="234315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社区画像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CC4DD17-FDD2-4876-B7A4-4D6902AE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48383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受众</a:t>
            </a:r>
            <a:endParaRPr sz="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A0B51C5-5F12-43A8-86C9-F2C3520E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64481"/>
            <a:ext cx="2146697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Kimi 用户、agent 构建者、长上下文与办公工作流用户</a:t>
            </a:r>
            <a:endParaRPr sz="8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571D772-C521-43DD-94F5-8D2189A1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5583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当前热点</a:t>
            </a:r>
            <a:endParaRPr sz="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3340C09-5033-4BFF-AE49-F71CF715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21681"/>
            <a:ext cx="205025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Kimi K3 发布、Kimi Work、credential / agent 安全讨论</a:t>
            </a:r>
            <a:endParaRPr sz="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7BCE4B7-D6E0-4C9D-B68D-3831004B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62783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推广政策</a:t>
            </a:r>
            <a:endParaRPr sz="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54D15A4-ACDB-4C44-BC27-FD281731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78881"/>
            <a:ext cx="2280642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品牌发布可见度高，但需要明确身份与真实技术细节</a:t>
            </a:r>
            <a:endParaRPr sz="8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6FBF18A-AB5E-481A-981B-5C12FCA2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50331"/>
            <a:ext cx="19573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优先发布实测与教程，不做功能清单</a:t>
            </a:r>
            <a:endParaRPr sz="8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FB24E8E-4E47-49A1-87ED-4D194A9D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91433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核心关注点</a:t>
            </a:r>
            <a:endParaRPr sz="8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8D72BF1-7310-407C-A9CC-8D3BA39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07531"/>
            <a:ext cx="223063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长任务完成率、工具调用、安全边界、价格</a:t>
            </a:r>
            <a:endParaRPr sz="8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28AD364-8A03-4E40-9E07-B1A71554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78981"/>
            <a:ext cx="3429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首轮成功率与返工次数</a:t>
            </a:r>
            <a:endParaRPr sz="8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2E03333-295C-45DC-B76C-8200658A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7703"/>
            <a:ext cx="3200400" cy="1195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EAEC0B6-C656-4D64-9A43-F2009E6B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40572"/>
            <a:ext cx="234315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备选方案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827FF9D-07B7-484B-AB46-BF3A6FED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319178"/>
            <a:ext cx="2343150" cy="731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同步布局 r/LocalLLaMA、r/ArtificialInteligence、r/StableDiffusion、r/singularity；按模型类型选择，不机械群发。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E9D096-93C2-46C4-8BF5-2D3B1F95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880467"/>
            <a:ext cx="5943600" cy="141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6E65184-D584-4FBD-9DA3-7D7B207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016143"/>
            <a:ext cx="508635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内容 1 — Kimi K3 真实任务（Post）</a:t>
            </a:r>
            <a:endParaRPr sz="1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73E6522-F939-4B64-98EC-0D53A11D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323324"/>
            <a:ext cx="5086350" cy="3600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36017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 i="1">
                <a:solidFill>
                  <a:srgbClr val="055C4E"/>
                </a:solidFill>
                <a:latin typeface="Inter SemiBold"/>
                <a:ea typeface="Inter SemiBold"/>
                <a:cs typeface="Inter SemiBold"/>
              </a:rPr>
              <a:t>“I gave Kimi K3 a 30-minute research-to-slides task — full prompt, cost and failure points.”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CB3F462-1EB9-444E-8905-311A7386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97658"/>
            <a:ext cx="5086350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策略：贴出任务分解、工具调用和最终交付物。</a:t>
            </a:r>
            <a:endParaRPr sz="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EB8A54B-252D-4374-9D57-8E0CF983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99088"/>
            <a:ext cx="5943600" cy="141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1AE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139AF08-4A7C-4E60-A1F9-48F818E6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34763"/>
            <a:ext cx="508635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内容 2 — Wan 3.0 热点实测（Post）</a:t>
            </a:r>
            <a:endParaRPr sz="1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5795EC4-02C1-49C4-B1FD-EE33700D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41944"/>
            <a:ext cx="5086350" cy="3600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36017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 i="1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“I tested this prompt on Wan 3.0 on oFox.ai — here’s the result I got.”</a:t>
            </a:r>
            <a:endParaRPr sz="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D894758-AAFE-4125-9A92-BCE3FBA4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16278"/>
            <a:ext cx="5086350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策略：用视频/图片结果做第一屏，正文说明 prompt、seed、耗时与成本。</a:t>
            </a:r>
            <a:endParaRPr sz="8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3D6EDE6-38ED-463A-AB69-2ABBE6D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17708"/>
            <a:ext cx="5943600" cy="1425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CD57E222-411B-4745-AB69-A67AC90B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36328"/>
            <a:ext cx="59436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4AA8838-47FC-4FEC-B951-A7A1B956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60806"/>
            <a:ext cx="508635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内容 3 — 安全/可靠性讨论</a:t>
            </a:r>
            <a:endParaRPr sz="10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4E424C5-42B9-4659-A98E-D8023629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67987"/>
            <a:ext cx="5086350" cy="540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36017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 i="1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“When should an agent ask for credentials? A test matrix across Kimi and peers.”</a:t>
            </a:r>
            <a:endParaRPr sz="9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EB79282-E50F-4BCC-B684-D0ABAB63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822338"/>
            <a:ext cx="5086350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6B7280"/>
                </a:solidFill>
                <a:latin typeface="Inter ExtraBold"/>
                <a:ea typeface="Inter ExtraBold"/>
                <a:cs typeface="Inter ExtraBold"/>
              </a:rPr>
              <a:t>策略：以安全边界建立专业信誉，再讨论 gateway 可观测性。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3273731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e587efaec4f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D7929152-AE10-4BBB-8048-E750E0A7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F2F6A35-2382-45C5-B1D4-BC88222A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845820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四类内容钩子，把每次模型发布变成一轮自然讨论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F2FD145-5C2F-40F5-AEC7-6C628496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467"/>
            <a:ext cx="3200400" cy="2938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110A00D-4B95-4BAC-8349-F5F0BCEA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80492"/>
            <a:ext cx="262890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社区画像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E15184-2BC9-480C-9913-BDF852E1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84114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钩子</a:t>
            </a:r>
            <a:endParaRPr sz="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E92AB95-BAE9-4F67-B8B7-BD829C4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00213"/>
            <a:ext cx="2194917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① 价格账单对照：同模型、同用量、最终到账成本</a:t>
            </a:r>
            <a:endParaRPr sz="8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365F8F-865D-4193-8A14-72868D63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69889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证据</a:t>
            </a:r>
            <a:endParaRPr sz="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B29D4A4-203C-4FF6-AF59-460C3235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85988"/>
            <a:ext cx="2419945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账单截图、充值费、token 计算</a:t>
            </a:r>
            <a:endParaRPr sz="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CB9A377-5741-4540-B280-0A8BCCE0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55664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适配社区</a:t>
            </a:r>
            <a:endParaRPr sz="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50BB540-F90A-4425-BC42-5DFC800C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71763"/>
            <a:ext cx="21717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r/LLMDevs、r/LocalLLaMA</a:t>
            </a:r>
            <a:endParaRPr sz="8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173D2C4-BA35-4F8E-9ACB-F30D61C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41439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表达方式</a:t>
            </a:r>
            <a:endParaRPr sz="8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1AEF533-0E8F-42D0-8330-89AB4F68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57538"/>
            <a:ext cx="2361009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“Here is the math”</a:t>
            </a:r>
            <a:endParaRPr sz="8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2BACDEF-6BB2-47F8-B993-D44B17C2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9116"/>
            <a:ext cx="3200400" cy="1324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7FA2B47-B81A-446F-94AA-D05EAED5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90566"/>
            <a:ext cx="262890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备选方案</a:t>
            </a:r>
            <a:endParaRPr sz="10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9A79A6C-E23C-4E25-A8C5-B7E976B3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40597"/>
            <a:ext cx="2628900" cy="731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任何“更便宜”结论必须带日期、模型 ID、区域与支付方式；数据变化后及时更新评论。</a:t>
            </a:r>
            <a:endParaRPr sz="8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00BB17-2798-418C-9D72-1BA5090B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880467"/>
            <a:ext cx="5943600" cy="141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1AE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CB26E5F-73C5-41DE-9C72-7F28F538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136163"/>
            <a:ext cx="537210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内容 1 — 热点首测（Post）</a:t>
            </a:r>
            <a:endParaRPr sz="1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0D8D299-E2A9-43B2-8373-8D852356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414769"/>
            <a:ext cx="5372100" cy="3600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 i="1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新模型上线 24 小时内：prompt + 原始结果 + 失败轮次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F7908C-5027-4ECD-97AD-2450DD97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60528"/>
            <a:ext cx="5372100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内容 2 — 同题擂台（Post）</a:t>
            </a:r>
            <a:endParaRPr sz="8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E4CF757-20B1-4A8A-BD95-8F992B4D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99088"/>
            <a:ext cx="5943600" cy="141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EFD2AB4-2E5F-47B2-AF4C-85511B9C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54784"/>
            <a:ext cx="537210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同一任务比较 Wan / Gemini / Kimi / DeepSeek / GPT，报告每个成功任务成本</a:t>
            </a:r>
            <a:endParaRPr sz="1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BF87FB2-A789-4245-B559-AAB68A9F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3390"/>
            <a:ext cx="5372100" cy="3600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2108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900" i="1">
                <a:solidFill>
                  <a:srgbClr val="055C4E"/>
                </a:solidFill>
                <a:latin typeface="Inter SemiBold"/>
                <a:ea typeface="Inter SemiBold"/>
                <a:cs typeface="Inter SemiBold"/>
              </a:rPr>
              <a:t>内容 3 — 购买决策（Post）</a:t>
            </a:r>
            <a:endParaRPr sz="9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E16BA8D-F56F-4D7D-8183-8A5BC969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79149"/>
            <a:ext cx="5372100" cy="182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“Which gateway should I use?” 用透明维度表回答，不把所有人导向同一选择</a:t>
            </a:r>
            <a:endParaRPr sz="8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AE06695-7342-49EE-AFF6-A3D867E5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17708"/>
            <a:ext cx="5943600" cy="1425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E89FAC24-8BBD-434E-B55A-6A35BC74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36328"/>
            <a:ext cx="59436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2885680-43CE-42A6-AC6E-A61BA5CF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10837"/>
            <a:ext cx="5372100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020817"/>
                </a:solidFill>
                <a:latin typeface="Inter ExtraBold"/>
                <a:ea typeface="Inter ExtraBold"/>
                <a:cs typeface="Inter ExtraBold"/>
              </a:rPr>
              <a:t>评论策略</a:t>
            </a:r>
            <a:endParaRPr sz="10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A03B977-9294-4173-9A69-8B618FF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89444"/>
            <a:ext cx="5372100" cy="365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6B7280"/>
                </a:solidFill>
                <a:latin typeface="Inter ExtraBold"/>
                <a:ea typeface="Inter ExtraBold"/>
                <a:cs typeface="Inter ExtraBold"/>
              </a:rPr>
              <a:t>追踪热门帖子，在问题出现后 2 小时内提供数据型回答。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20094342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c8c860fb944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CB74B8AB-9AE8-43B8-BD0D-B5F076EF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5AA5DB5-75B3-448D-A279-23998706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30 个主贴分配：必投社区 + 可扩展模型社区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DAB7F43-0BDA-4312-8687-D974666B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4792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831E55D-D301-4D88-B96A-92C1745F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02829"/>
            <a:ext cx="2301850" cy="409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36017" rIns="204089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Subreddit</a:t>
            </a:r>
            <a:endParaRPr sz="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67D509-98B3-4B3E-B440-AC81C67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475" y="1194792"/>
            <a:ext cx="1150953" cy="409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04089" tIns="136017" rIns="204089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主贴</a:t>
            </a:r>
            <a:endParaRPr sz="9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DFDBD77-3674-41BB-9D47-8F65108B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1194792"/>
            <a:ext cx="3452831" cy="409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36017" rIns="204089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核心内容方向</a:t>
            </a:r>
            <a:endParaRPr sz="9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991082B-2FB9-4656-A3BF-E88C372B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94842"/>
            <a:ext cx="8286750" cy="5500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>
              <a:alpha val="3000"/>
            </a:srgbClr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13ED662-C3DB-4DDD-87DB-119A78A2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7767"/>
            <a:ext cx="82867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546F174-7354-4EC8-9FE8-525952CA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45741"/>
            <a:ext cx="2301850" cy="4772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r/GeminiAI</a:t>
            </a:r>
            <a:endParaRPr sz="9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C227FA5-E6FD-4556-92D6-65CEF179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173771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42230E-6614-4925-B989-E18E5F1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1737717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7</a:t>
            </a:r>
            <a:endParaRPr sz="9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D7C8A36-0A75-4C7D-95D9-71AAB519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25" y="1788616"/>
            <a:ext cx="16073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篇</a:t>
            </a:r>
            <a:endParaRPr sz="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361B4A4-6491-4AE5-A703-9B3D4F1A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1637705"/>
            <a:ext cx="3452831" cy="484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B7280"/>
                </a:solidFill>
                <a:latin typeface="Inter"/>
                <a:ea typeface="Inter"/>
                <a:cs typeface="Inter"/>
              </a:rPr>
              <a:t>Gemini 新版实测、图像/视频挑战</a:t>
            </a:r>
            <a:endParaRPr sz="9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42FE794-86BB-4BF1-94E3-F7076C1E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7767"/>
            <a:ext cx="8286750" cy="5500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C4FF9CC-6111-4109-8F1B-8495AD68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80692"/>
            <a:ext cx="82867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8E3F69C-670E-402A-A197-B6F6E4AE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88666"/>
            <a:ext cx="2301850" cy="4772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r/LLMDevs</a:t>
            </a:r>
            <a:endParaRPr sz="9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6F201DC-6CC2-4AD6-98F6-AADB416B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2280642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E73AF9C-F9FA-4599-8E09-A45F87A4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2280642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5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9A72CE9-AD72-40D9-ACF0-70B6E7FB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25" y="2331541"/>
            <a:ext cx="16073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篇</a:t>
            </a:r>
            <a:endParaRPr sz="9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4543313-98E7-4365-A395-49D1474E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2180630"/>
            <a:ext cx="3452831" cy="484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B7280"/>
                </a:solidFill>
                <a:latin typeface="Inter"/>
                <a:ea typeface="Inter"/>
                <a:cs typeface="Inter"/>
              </a:rPr>
              <a:t>网关费用、延迟、失败分类（需 mod approval）</a:t>
            </a:r>
            <a:endParaRPr sz="9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1607247-23A0-459F-92AF-B154202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80692"/>
            <a:ext cx="8286750" cy="5500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>
              <a:alpha val="3000"/>
            </a:srgbClr>
          </a:solidFill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2C08EF5-948D-487F-AEE0-88EEAD6D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23617"/>
            <a:ext cx="82867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9E34345-8755-4AD2-B98D-D6E99563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31591"/>
            <a:ext cx="2301850" cy="4772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r/kimi</a:t>
            </a:r>
            <a:endParaRPr sz="9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1167CE1-5E27-425C-900E-DED370B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2823567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D8A3F38-A7F6-4282-BD85-DAD4B109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2823567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5</a:t>
            </a:r>
            <a:endParaRPr sz="9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3646150-70E4-4DD0-8C37-7DFDDB61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25" y="2874466"/>
            <a:ext cx="16073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篇</a:t>
            </a:r>
            <a:endParaRPr sz="9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435A6D0C-F7DF-48F8-9B05-0F5CC071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2723555"/>
            <a:ext cx="3452831" cy="484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B7280"/>
                </a:solidFill>
                <a:latin typeface="Inter"/>
                <a:ea typeface="Inter"/>
                <a:cs typeface="Inter"/>
              </a:rPr>
              <a:t>Kimi K3、agent 任务、安全边界</a:t>
            </a:r>
            <a:endParaRPr sz="9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0443CDC6-EE0D-4CC8-BCB5-952045DE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23617"/>
            <a:ext cx="8286750" cy="6036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70CF8069-3B97-4AC3-A7FB-8F744533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0120"/>
            <a:ext cx="82867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7B7795E7-EDBB-4F69-A0BA-387AED6D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23617"/>
            <a:ext cx="2301850" cy="5965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r/LocalLLaMA + 模型社区</a:t>
            </a:r>
            <a:endParaRPr sz="90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5D0F1F5E-B155-45A2-9FE1-3F5A7FCA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3393281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59D828FF-3403-4628-87CD-42575705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3393281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13</a:t>
            </a:r>
            <a:endParaRPr sz="9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FF118CFF-B393-4725-B17A-FADF5D0B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25" y="3444180"/>
            <a:ext cx="16073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020817"/>
                </a:solidFill>
                <a:latin typeface="Inter SemiBold"/>
                <a:ea typeface="Inter SemiBold"/>
                <a:cs typeface="Inter SemiBold"/>
              </a:rPr>
              <a:t>篇</a:t>
            </a:r>
            <a:endParaRPr sz="9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57FF24EC-62C3-49BF-BAF3-D5F31A5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3293269"/>
            <a:ext cx="3452831" cy="484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B7280"/>
                </a:solidFill>
                <a:latin typeface="Inter"/>
                <a:ea typeface="Inter"/>
                <a:cs typeface="Inter"/>
              </a:rPr>
              <a:t>DeepSeek/Qwen 对比、Wan 3.0 结果、发布日热点</a:t>
            </a:r>
            <a:endParaRPr sz="9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422FCC04-70F8-4A31-AFC2-DF72E302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0120"/>
            <a:ext cx="8286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3E3952BC-2826-416A-AE48-1DBE05E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52267"/>
            <a:ext cx="2301850" cy="4925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合计</a:t>
            </a:r>
            <a:endParaRPr sz="100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58F01475-3286-4388-88FD-C78CEBEB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396299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BF18F82E-0F2B-4CFD-9A71-53756052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925" y="3962995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30</a:t>
            </a:r>
            <a:endParaRPr sz="9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1555D8F-253E-4AC1-A383-69377B58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25" y="3999607"/>
            <a:ext cx="175022" cy="1732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篇</a:t>
            </a:r>
            <a:endParaRPr sz="10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B0A658D6-3910-456F-ADCA-0B28823C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44" y="3852267"/>
            <a:ext cx="3452831" cy="4925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4089" tIns="170053" rIns="204089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5EEAD4"/>
                </a:solidFill>
                <a:latin typeface="Inter ExtraBold"/>
                <a:ea typeface="Inter ExtraBold"/>
                <a:cs typeface="Inter ExtraBold"/>
              </a:rPr>
              <a:t>覆盖 7+ 个核心版块</a:t>
            </a:r>
            <a:endParaRPr sz="1000"/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E636CB02-A65A-472E-948C-1BCD6848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</p:spTree>
    <p:extLst>
      <p:ext uri="{BB962C8B-B14F-4D97-AF65-F5344CB8AC3E}">
        <p14:creationId xmlns:p14="http://schemas.microsoft.com/office/powerpoint/2010/main" val="8935438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488f1055a4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56F239A7-DD35-49FC-88EB-CADD7974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9F29B2F-377B-4FD7-A218-44EBB4C9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首轮采用 10 天冲刺；后续由模型发布雷达持续供稿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DC15F24-8AF8-4C3C-AECD-01449220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467"/>
            <a:ext cx="4572000" cy="42630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8A3E5D-E6DD-4A33-93C9-C53A66FD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33308"/>
            <a:ext cx="3714750" cy="5857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5EEAD4"/>
                </a:solidFill>
                <a:latin typeface="Inter Black"/>
                <a:ea typeface="Inter Black"/>
                <a:cs typeface="Inter Black"/>
              </a:rPr>
              <a:t>10 天发布冲刺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5EEAD4"/>
                </a:solidFill>
                <a:latin typeface="Inter Black"/>
                <a:ea typeface="Inter Black"/>
                <a:cs typeface="Inter Black"/>
              </a:rPr>
              <a:t>(Launch Sprint)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0F54FD6-A3C2-4F36-B29E-F861286D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33408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执行节奏</a:t>
            </a:r>
            <a:endParaRPr sz="9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784C82C-4B26-49FB-8721-20039DE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90583"/>
            <a:ext cx="3714750" cy="555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每天 2–3 篇，错开社区与账号；先技术价值，后品牌解释。每篇只在一个社区首发，其他社区重新写标题、证据顺序与讨论问题。</a:t>
            </a:r>
            <a:endParaRPr sz="9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A944383-F663-4AE9-ACA4-F847C78E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16331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">
                <a:solidFill>
                  <a:srgbClr val="00D1AE"/>
                </a:solidFill>
                <a:latin typeface="Inter ExtraBold"/>
                <a:ea typeface="Inter ExtraBold"/>
                <a:cs typeface="Inter ExtraBold"/>
              </a:rPr>
              <a:t>核心目的</a:t>
            </a:r>
            <a:endParaRPr sz="9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6D546CC-1EBC-4269-A2C8-FFB544CD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73506"/>
            <a:ext cx="3714750" cy="617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FFFFFF">
                    <a:alpha val="85000"/>
                  </a:srgbClr>
                </a:solidFill>
                <a:latin typeface="Inter"/>
                <a:ea typeface="Inter"/>
                <a:cs typeface="Inter"/>
              </a:rPr>
              <a:t>快速找到三种可规模化内容：价格对照、热点实测、工程可靠性；用真实评论决定下一轮预算，而不是追求虚假热度。</a:t>
            </a:r>
            <a:endParaRPr sz="9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6A2970-1231-4126-A565-0D2EF6C1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80467"/>
            <a:ext cx="4572000" cy="42630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D58977-5BDC-4483-90CB-7E1A13CA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30449"/>
            <a:ext cx="3714750" cy="5857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020817"/>
                </a:solidFill>
                <a:latin typeface="Inter Black"/>
                <a:ea typeface="Inter Black"/>
                <a:cs typeface="Inter Black"/>
              </a:rPr>
              <a:t>模型发布雷达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020817"/>
                </a:solidFill>
                <a:latin typeface="Inter Black"/>
                <a:ea typeface="Inter Black"/>
                <a:cs typeface="Inter Black"/>
              </a:rPr>
              <a:t>(Always-on)</a:t>
            </a:r>
            <a:endParaRPr sz="1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4897302-949F-4C94-960E-EF593EF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30549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监测清单</a:t>
            </a:r>
            <a:endParaRPr sz="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0956BB2-AEEF-4330-801E-0BF6EA0C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87724"/>
            <a:ext cx="3714750" cy="5594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Gemini、Kimi、DeepSeek、Qwen、Wan、OpenAI、Claude；跟踪官方账号、模型页、API changelog 与社区置顶。</a:t>
            </a:r>
            <a:endParaRPr sz="9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8E89E58-396F-4901-960A-2BE5FCE0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1919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1">
                <a:solidFill>
                  <a:srgbClr val="055C4E"/>
                </a:solidFill>
                <a:latin typeface="Inter ExtraBold"/>
                <a:ea typeface="Inter ExtraBold"/>
                <a:cs typeface="Inter ExtraBold"/>
              </a:rPr>
              <a:t>24/48 小时 SLA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F295083-7E34-42FD-B7CC-A5A7A321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76365"/>
            <a:ext cx="3714750" cy="5594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020817"/>
                </a:solidFill>
                <a:latin typeface="Inter"/>
                <a:ea typeface="Inter"/>
                <a:cs typeface="Inter"/>
              </a:rPr>
              <a:t>24 小时完成测试；48 小时发布社区版本。预备：Gemini 3.7 Flash、Kimi K3、DeepSeek V4 Flash、GPT-5.6 Luna、Wan 3.0；发布前再次核实。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5342093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9e5b7fc7947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6E4F6EB-1AC9-40C6-AB62-977E70C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80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4E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DC1C76E-0C3A-409C-A547-B42BD949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8286750" cy="308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 spc="-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合规与测量决定这套 campaign 能否持续</a:t>
            </a:r>
            <a:endParaRPr sz="16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A28267A-7D35-4DB3-8CD1-C2556C37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6217"/>
            <a:ext cx="4036219" cy="526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36448D5-46EA-46DA-B28E-01087E31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1309092"/>
            <a:ext cx="503634" cy="241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DB4A1C6-3AB2-4391-9AD0-32A2C9DF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1309092"/>
            <a:ext cx="503634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19126" tIns="51054" rIns="119126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55C4E"/>
                </a:solidFill>
                <a:latin typeface="Inter Black"/>
                <a:ea typeface="Inter Black"/>
                <a:cs typeface="Inter Black"/>
              </a:rPr>
              <a:t>风险 1</a:t>
            </a:r>
            <a:endParaRPr sz="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1BA0014-E4AF-448A-A046-904644DD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72" y="1333202"/>
            <a:ext cx="1131587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“OpenRouter 一定更贵”被反驳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AD4C694-BA47-478F-8042-2E6119CF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93069"/>
            <a:ext cx="4036219" cy="1218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49E5418-33B1-4B58-9D02-65DE2D7D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1907381"/>
            <a:ext cx="360759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">
                <a:solidFill>
                  <a:srgbClr val="00D1AE"/>
                </a:solidFill>
                <a:latin typeface="Inter Black"/>
                <a:ea typeface="Inter Black"/>
                <a:cs typeface="Inter Black"/>
              </a:rPr>
              <a:t>应对策略</a:t>
            </a:r>
            <a:endParaRPr sz="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12F38F6-4A90-46C0-AC35-3E2B96E3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2148483"/>
            <a:ext cx="3607594" cy="4974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020817"/>
                </a:solidFill>
                <a:latin typeface="Inter Medium"/>
                <a:ea typeface="Inter Medium"/>
                <a:cs typeface="Inter Medium"/>
              </a:rPr>
              <a:t>只陈述已核实机制：OpenRouter 公示充值费；逐模型、逐支付方式比较，并标注时间。把“更贵”改写为可复现问题。</a:t>
            </a:r>
            <a:endParaRPr sz="8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C38B9B1-FD29-46FF-925F-C38CC1D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156" y="1166217"/>
            <a:ext cx="4036219" cy="526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44E923B-8BB2-480D-9956-BA1C15A6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1309092"/>
            <a:ext cx="525066" cy="241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507238E-ACAA-41BB-BC21-143D21C4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1309092"/>
            <a:ext cx="525066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19126" tIns="51054" rIns="119126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55C4E"/>
                </a:solidFill>
                <a:latin typeface="Inter Black"/>
                <a:ea typeface="Inter Black"/>
                <a:cs typeface="Inter Black"/>
              </a:rPr>
              <a:t>风险 2</a:t>
            </a:r>
            <a:endParaRPr sz="8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2D785BF-2DD4-4A4A-847C-24E3ABAB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834" y="1333202"/>
            <a:ext cx="1131587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r/LLMDevs 删除推广内容</a:t>
            </a:r>
            <a:endParaRPr sz="10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CF11909-B262-490F-8CDE-4971451C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156" y="1693069"/>
            <a:ext cx="4036219" cy="1218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64E7C61-C546-4C7C-AC6D-EF00DA87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1907381"/>
            <a:ext cx="360759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">
                <a:solidFill>
                  <a:srgbClr val="00D1AE"/>
                </a:solidFill>
                <a:latin typeface="Inter Black"/>
                <a:ea typeface="Inter Black"/>
                <a:cs typeface="Inter Black"/>
              </a:rPr>
              <a:t>应对策略</a:t>
            </a:r>
            <a:endParaRPr sz="8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0E39AFD-3F3C-4423-95CD-489BE610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2148483"/>
            <a:ext cx="3607594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020817"/>
                </a:solidFill>
                <a:latin typeface="Inter Medium"/>
                <a:ea typeface="Inter Medium"/>
                <a:cs typeface="Inter Medium"/>
              </a:rPr>
              <a:t>遵守反营销规则，优先申请 mod approval；品牌员工 Full Disclosure；不使用多账号伪装口碑。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E032E5B-9986-4477-8786-587BF154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25698"/>
            <a:ext cx="4036219" cy="526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3912F52-E3AC-4F28-8AB0-E68E5FDD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268573"/>
            <a:ext cx="528638" cy="241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F60B0B1-C122-4790-BD02-A4373109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268573"/>
            <a:ext cx="528638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19126" tIns="51054" rIns="119126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55C4E"/>
                </a:solidFill>
                <a:latin typeface="Inter Black"/>
                <a:ea typeface="Inter Black"/>
                <a:cs typeface="Inter Black"/>
              </a:rPr>
              <a:t>风险 3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180F3D8-92FD-4EBF-9378-9636877D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92683"/>
            <a:ext cx="1131587" cy="1928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复制粘贴造成 spam 信号</a:t>
            </a:r>
            <a:endParaRPr sz="10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7C31839-D50A-47EC-9D7A-8BC7295D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52549"/>
            <a:ext cx="4036219" cy="1218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322770B-7052-4C03-8CF1-4827C69E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3866862"/>
            <a:ext cx="360759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">
                <a:solidFill>
                  <a:srgbClr val="00D1AE"/>
                </a:solidFill>
                <a:latin typeface="Inter Black"/>
                <a:ea typeface="Inter Black"/>
                <a:cs typeface="Inter Black"/>
              </a:rPr>
              <a:t>应对策略</a:t>
            </a:r>
            <a:endParaRPr sz="8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F5F3BCF-6A54-4589-A53A-A2B2779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8" y="4107963"/>
            <a:ext cx="3607594" cy="4974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020817"/>
                </a:solidFill>
                <a:latin typeface="Inter Medium"/>
                <a:ea typeface="Inter Medium"/>
                <a:cs typeface="Inter Medium"/>
              </a:rPr>
              <a:t>每个 subreddit 独立改写标题、证据与问题；不购买投票、不组织虚假评论、不进行自问自答操纵。</a:t>
            </a:r>
            <a:endParaRPr sz="8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59ADFD1-8D36-4ABE-A88F-DC1B5EBB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156" y="3125698"/>
            <a:ext cx="4036219" cy="5268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A15B35C-C73A-4DB4-ADCB-328040FC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3268573"/>
            <a:ext cx="532209" cy="241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484EBD7-C38B-464A-A5F1-B2C2056F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3268573"/>
            <a:ext cx="532209" cy="241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19126" tIns="51054" rIns="119126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055C4E"/>
                </a:solidFill>
                <a:latin typeface="Inter Black"/>
                <a:ea typeface="Inter Black"/>
                <a:cs typeface="Inter Black"/>
              </a:rPr>
              <a:t>风险 4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306A344-FA37-4181-A602-B32DF7E3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978" y="3292683"/>
            <a:ext cx="188382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</a:rPr>
              <a:t>只看 upvotes，无法证明业务价值</a:t>
            </a:r>
            <a:endParaRPr sz="10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BF50422-248B-4D20-ACF9-9DE6EED8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156" y="3652549"/>
            <a:ext cx="4036219" cy="12183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37B2457-530C-4E01-9E80-EAA7C46D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3866862"/>
            <a:ext cx="3607594" cy="15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 spc="1">
                <a:solidFill>
                  <a:srgbClr val="00D1AE"/>
                </a:solidFill>
                <a:latin typeface="Inter Black"/>
                <a:ea typeface="Inter Black"/>
                <a:cs typeface="Inter Black"/>
              </a:rPr>
              <a:t>应对策略</a:t>
            </a:r>
            <a:endParaRPr sz="8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56CB5D4-2CF4-4225-BB5D-88D02833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469" y="4107963"/>
            <a:ext cx="3607594" cy="548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020817"/>
                </a:solidFill>
                <a:latin typeface="Inter Medium"/>
                <a:ea typeface="Inter Medium"/>
                <a:cs typeface="Inter Medium"/>
              </a:rPr>
              <a:t>核心 KPI：高质量评论率、收藏/分享、品牌搜索、oFox.ai referral、注册与首次 API 调用。周报按内容钩子复盘。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267350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2026-08-25T06:51:08.9220000Z</dcterms:created>
  <dcterms:modified xsi:type="dcterms:W3CDTF">2026-08-25T06:51:08.9220000Z</dcterms:modified>
</coreProperties>
</file>