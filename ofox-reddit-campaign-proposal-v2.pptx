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52ef03554e444c" /><Relationship Type="http://schemas.openxmlformats.org/officeDocument/2006/relationships/extended-properties" Target="/docProps/app.xml" Id="R04cd3a794b24402d" /><Relationship Type="http://schemas.openxmlformats.org/officeDocument/2006/relationships/officeDocument" Target="/ppt/presentation.xml" Id="R1c7099bcd4d14b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ab180dfb094e3e"/>
  </p:sldMasterIdLst>
  <p:notesMasterIdLst>
    <p:notesMasterId xmlns:r="http://schemas.openxmlformats.org/officeDocument/2006/relationships" r:id="R7cf8dc9cea214495"/>
  </p:notesMasterIdLst>
  <p:sldIdLst>
    <p:sldId xmlns:r="http://schemas.openxmlformats.org/officeDocument/2006/relationships" id="256" r:id="R2331dcb642664edf"/>
    <p:sldId xmlns:r="http://schemas.openxmlformats.org/officeDocument/2006/relationships" id="257" r:id="R6644b4d2dd9a4d6f"/>
    <p:sldId xmlns:r="http://schemas.openxmlformats.org/officeDocument/2006/relationships" id="258" r:id="R33c356bd4f8f430a"/>
    <p:sldId xmlns:r="http://schemas.openxmlformats.org/officeDocument/2006/relationships" id="259" r:id="Rd69f0edafa494a6d"/>
    <p:sldId xmlns:r="http://schemas.openxmlformats.org/officeDocument/2006/relationships" id="260" r:id="Rf113e47e5b274c3f"/>
    <p:sldId xmlns:r="http://schemas.openxmlformats.org/officeDocument/2006/relationships" id="261" r:id="Rfa859c872bc7493e"/>
    <p:sldId xmlns:r="http://schemas.openxmlformats.org/officeDocument/2006/relationships" id="262" r:id="Rbaf569c2892d40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e84811f8084701" /><Relationship Type="http://schemas.openxmlformats.org/officeDocument/2006/relationships/slideMaster" Target="/ppt/slideMasters/slideMaster1.xml" Id="Re9ab180dfb094e3e" /><Relationship Type="http://schemas.openxmlformats.org/officeDocument/2006/relationships/notesMaster" Target="/ppt/notesMasters/notesMaster1.xml" Id="R7cf8dc9cea214495" /><Relationship Type="http://schemas.openxmlformats.org/officeDocument/2006/relationships/presProps" Target="/ppt/presProps.xml" Id="R9a102884b21d464e" /><Relationship Type="http://schemas.openxmlformats.org/officeDocument/2006/relationships/tableStyles" Target="/ppt/tableStyles.xml" Id="R66b9081bc7a9431c" /><Relationship Type="http://schemas.openxmlformats.org/officeDocument/2006/relationships/slide" Target="/ppt/slides/slide1.xml" Id="R2331dcb642664edf" /><Relationship Type="http://schemas.openxmlformats.org/officeDocument/2006/relationships/slide" Target="/ppt/slides/slide2.xml" Id="R6644b4d2dd9a4d6f" /><Relationship Type="http://schemas.openxmlformats.org/officeDocument/2006/relationships/slide" Target="/ppt/slides/slide3.xml" Id="R33c356bd4f8f430a" /><Relationship Type="http://schemas.openxmlformats.org/officeDocument/2006/relationships/slide" Target="/ppt/slides/slide4.xml" Id="Rd69f0edafa494a6d" /><Relationship Type="http://schemas.openxmlformats.org/officeDocument/2006/relationships/slide" Target="/ppt/slides/slide5.xml" Id="Rf113e47e5b274c3f" /><Relationship Type="http://schemas.openxmlformats.org/officeDocument/2006/relationships/slide" Target="/ppt/slides/slide6.xml" Id="Rfa859c872bc7493e" /><Relationship Type="http://schemas.openxmlformats.org/officeDocument/2006/relationships/slide" Target="/ppt/slides/slide7.xml" Id="Rbaf569c2892d40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95726e9f2144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024facf1b4434b" /><Relationship Type="http://schemas.openxmlformats.org/officeDocument/2006/relationships/notesMaster" Target="/ppt/notesMasters/notesMaster1.xml" Id="R0d71b3c377d641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483f5e816e45d2" /><Relationship Type="http://schemas.openxmlformats.org/officeDocument/2006/relationships/notesMaster" Target="/ppt/notesMasters/notesMaster1.xml" Id="R7249889333c94b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10f4aba9d04db9" /><Relationship Type="http://schemas.openxmlformats.org/officeDocument/2006/relationships/notesMaster" Target="/ppt/notesMasters/notesMaster1.xml" Id="R0112ab04b2b2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b407383a2c4306" /><Relationship Type="http://schemas.openxmlformats.org/officeDocument/2006/relationships/notesMaster" Target="/ppt/notesMasters/notesMaster1.xml" Id="Rae6d91b3386345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c41166ddb74c23" /><Relationship Type="http://schemas.openxmlformats.org/officeDocument/2006/relationships/notesMaster" Target="/ppt/notesMasters/notesMaster1.xml" Id="R27e9ba6cb02c4d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d7e0546a714cd2" /><Relationship Type="http://schemas.openxmlformats.org/officeDocument/2006/relationships/notesMaster" Target="/ppt/notesMasters/notesMaster1.xml" Id="Rad1136c2f58a4c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7a9cf8ed2543e5" /><Relationship Type="http://schemas.openxmlformats.org/officeDocument/2006/relationships/notesMaster" Target="/ppt/notesMasters/notesMaster1.xml" Id="R426c98d20441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https://ofox.ai/zh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https://ofox.ai/zh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https://ofox.ai/zh</a:t>
            </a:r>
          </a:p>
          <a:p xmlns:a="http://schemas.openxmlformats.org/drawingml/2006/main">
            <a:r>
              <a:t>https://openrouter.ai/pricing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https://ofox.ai/zh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https://ofox.ai/zh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https://openai.com/news/</a:t>
            </a:r>
          </a:p>
          <a:p xmlns:a="http://schemas.openxmlformats.org/drawingml/2006/main">
            <a:r>
              <a:t>https://platform.openai.com/docs/models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https://www.reddit.com/r/GeminiAI/</a:t>
            </a:r>
          </a:p>
          <a:p xmlns:a="http://schemas.openxmlformats.org/drawingml/2006/main">
            <a:r>
              <a:t>https://www.reddit.com/r/LLMDevs/</a:t>
            </a:r>
          </a:p>
          <a:p xmlns:a="http://schemas.openxmlformats.org/drawingml/2006/main">
            <a:r>
              <a:t>https://www.reddit.com/r/kimi/</a:t>
            </a:r>
          </a:p>
          <a:p xmlns:a="http://schemas.openxmlformats.org/drawingml/2006/main">
            <a:r>
              <a:t>https://www.reddit.com/r/LocalLLaMA/</a:t>
            </a:r>
          </a:p>
          <a:p xmlns:a="http://schemas.openxmlformats.org/drawingml/2006/main">
            <a:r>
              <a:t>https://www.reddit.com/r/StableDiffusion/</a:t>
            </a:r>
          </a:p>
          <a:p xmlns:a="http://schemas.openxmlformats.org/drawingml/2006/main">
            <a:r>
              <a:t>https://www.reddit.com/r/singularity/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563ecb79745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644a5f73fb4e00" /><Relationship Type="http://schemas.openxmlformats.org/officeDocument/2006/relationships/slideLayout" Target="/ppt/slideLayouts/slideLayout1.xml" Id="R75cadbbc9ad547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cadbbc9ad547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f6b3165e540c1" /><Relationship Type="http://schemas.openxmlformats.org/officeDocument/2006/relationships/notesSlide" Target="/ppt/notesSlides/notesSlide1.xml" Id="Rd31dd8b2076b49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6a5fef79342c9" /><Relationship Type="http://schemas.openxmlformats.org/officeDocument/2006/relationships/notesSlide" Target="/ppt/notesSlides/notesSlide2.xml" Id="R9a238ca7c99c49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2630bcfb64a87" /><Relationship Type="http://schemas.openxmlformats.org/officeDocument/2006/relationships/notesSlide" Target="/ppt/notesSlides/notesSlide3.xml" Id="Reb434c68aaa34f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444dddf1b4fd2" /><Relationship Type="http://schemas.openxmlformats.org/officeDocument/2006/relationships/notesSlide" Target="/ppt/notesSlides/notesSlide4.xml" Id="R4a4144e5155a44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8aedf6a2341e0" /><Relationship Type="http://schemas.openxmlformats.org/officeDocument/2006/relationships/notesSlide" Target="/ppt/notesSlides/notesSlide5.xml" Id="R14f230e2a48a41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b44cf400e4661" /><Relationship Type="http://schemas.openxmlformats.org/officeDocument/2006/relationships/notesSlide" Target="/ppt/notesSlides/notesSlide6.xml" Id="Rfd76a4f9e9d244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9aea29ccb4416" /><Relationship Type="http://schemas.openxmlformats.org/officeDocument/2006/relationships/notesSlide" Target="/ppt/notesSlides/notesSlide7.xml" Id="R225377a12fbf4e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92617-0234-4019-92C7-ACE10A2A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1F1F"/>
                </a:solidFill>
              </a:defRPr>
            </a:pPr>
            <a:r>
              <a:rPr sz="2100" b="1">
                <a:solidFill>
                  <a:srgbClr val="1F1F1F"/>
                </a:solidFill>
              </a:rPr>
              <a:t>oFox.ai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BAF19-506C-4ADE-B4A8-8D966924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002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D6BFD-94D7-4C4B-8096-643B27CD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REDDIT CAMPAIGN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09CFA-12FB-4011-AEBB-C5DA4F09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F1F1F"/>
                </a:solidFill>
              </a:defRPr>
            </a:pPr>
            <a:r>
              <a:rPr sz="4650" b="1">
                <a:solidFill>
                  <a:srgbClr val="1F1F1F"/>
                </a:solidFill>
              </a:rPr>
              <a:t>Four campaign ideas</a:t>
            </a:r>
          </a:p>
          <a:p xmlns:a="http://schemas.openxmlformats.org/drawingml/2006/main">
            <a:pPr algn="l">
              <a:defRPr sz="4650" b="1">
                <a:solidFill>
                  <a:srgbClr val="1F1F1F"/>
                </a:solidFill>
              </a:defRPr>
            </a:pPr>
            <a:r>
              <a:rPr sz="4650" b="1">
                <a:solidFill>
                  <a:srgbClr val="1F1F1F"/>
                </a:solidFill>
              </a:rPr>
              <a:t>for the next model 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0D1FF-E8E9-46A3-87E6-CE6E4B5F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771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</a:rPr>
              <a:t>用折扣、新模型热点与真实对比，把 oFox.ai 变成 Reddit 上的讨论入口。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8215C-1FCC-466C-933E-88C9B288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A365C-340A-4DCD-BC5B-E297749E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01  成本对照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5BFE9-88B6-4FD4-9485-E7B0D320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02  Wan 3.0 视频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4A844-C7E2-48CA-B215-90801432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03  中美模型对比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3585B-F0F8-4C9E-8A1A-39DC3D8A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48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04  GPT‑6 热点</a:t>
            </a:r>
          </a:p>
        </p:txBody>
      </p:sp>
    </p:spTree>
    <p:extLst>
      <p:ext uri="{BB962C8B-B14F-4D97-AF65-F5344CB8AC3E}">
        <p14:creationId xmlns:p14="http://schemas.microsoft.com/office/powerpoint/2010/main" val="1397010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B0AFF-89AE-4347-A860-CBD89A71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F1F"/>
                </a:solidFill>
              </a:defRPr>
            </a:pPr>
            <a:r>
              <a:rPr sz="1800" b="1">
                <a:solidFill>
                  <a:srgbClr val="1F1F1F"/>
                </a:solidFill>
              </a:rPr>
              <a:t>oFox.ai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F0629-8A60-442C-BEC3-9EAC798E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9A160-302B-4570-99B0-53A35DD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000"/>
                </a:solidFill>
              </a:defRPr>
            </a:pPr>
            <a:r>
              <a:rPr sz="1050" b="1">
                <a:solidFill>
                  <a:srgbClr val="FF5000"/>
                </a:solidFill>
              </a:rPr>
              <a:t>CAMPAIGN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4EA34-15BF-4E11-BDA0-7B5D153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1F"/>
                </a:solidFill>
              </a:defRPr>
            </a:pPr>
            <a:r>
              <a:rPr sz="3150" b="1">
                <a:solidFill>
                  <a:srgbClr val="1F1F1F"/>
                </a:solidFill>
              </a:rPr>
              <a:t>四个思路，只围绕“现在为什么值得讨论”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0770A-E8E6-4EE5-95F1-76CF5FB4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思路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A43D5-46A8-46FE-99B4-C17E900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88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1F1F"/>
                </a:solidFill>
              </a:defRPr>
            </a:pPr>
            <a:r>
              <a:rPr sz="1950" b="1">
                <a:solidFill>
                  <a:srgbClr val="1F1F1F"/>
                </a:solidFill>
              </a:rPr>
              <a:t>OpenRouter 成本对照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23A1D-02EB-45F2-9F49-AF2B3ACD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66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B6B"/>
                </a:solidFill>
              </a:defRPr>
            </a:pPr>
            <a:r>
              <a:rPr sz="1350" b="0">
                <a:solidFill>
                  <a:srgbClr val="6B6B6B"/>
                </a:solidFill>
              </a:rPr>
              <a:t>抓住 oFox.ai 多款模型折扣，做相同用量下的实际支出对比。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D3887-90FB-4666-AD14-D6E07CF9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93809-4F90-47D6-8433-16BEF49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思路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49F72-0E94-4582-8854-6982D7BA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1F1F"/>
                </a:solidFill>
              </a:defRPr>
            </a:pPr>
            <a:r>
              <a:rPr sz="1950" b="1">
                <a:solidFill>
                  <a:srgbClr val="1F1F1F"/>
                </a:solidFill>
              </a:rPr>
              <a:t>Wan 3.0 热点视频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695E4-E2DF-416E-A692-619FFEAB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38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B6B"/>
                </a:solidFill>
              </a:defRPr>
            </a:pPr>
            <a:r>
              <a:rPr sz="1350" b="0">
                <a:solidFill>
                  <a:srgbClr val="6B6B6B"/>
                </a:solidFill>
              </a:rPr>
              <a:t>直接做一条可传播的视频结果，完整公开 prompt 与参数。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42A5B-5FBA-45CB-AE18-1C7EAE4C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AD6FC-0015-4FFB-BF23-068D1A84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思路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535A0-6FF7-4D91-90ED-A6147687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1F1F"/>
                </a:solidFill>
              </a:defRPr>
            </a:pPr>
            <a:r>
              <a:rPr sz="1950" b="1">
                <a:solidFill>
                  <a:srgbClr val="1F1F1F"/>
                </a:solidFill>
              </a:rPr>
              <a:t>中美模型同题对比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8E4A3-343E-4569-B14C-BC91B5F0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0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B6B"/>
                </a:solidFill>
              </a:defRPr>
            </a:pPr>
            <a:r>
              <a:rPr sz="1350" b="0">
                <a:solidFill>
                  <a:srgbClr val="6B6B6B"/>
                </a:solidFill>
              </a:rPr>
              <a:t>同一条高难度 prompt 跑 Wan 3.0 与海外模型，看结果差异。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B0D0B-1705-4886-8ADB-AF5001AE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DB365-DC49-40F4-87A1-1A8316BF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思路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872C0-EF70-4026-A118-4C909FB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1F1F"/>
                </a:solidFill>
              </a:defRPr>
            </a:pPr>
            <a:r>
              <a:rPr sz="1950" b="1">
                <a:solidFill>
                  <a:srgbClr val="1F1F1F"/>
                </a:solidFill>
              </a:rPr>
              <a:t>GPT‑6 发布热点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42190-81DB-4CEE-BD2C-71BE239B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81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B6B"/>
                </a:solidFill>
              </a:defRPr>
            </a:pPr>
            <a:r>
              <a:rPr sz="1350" b="0">
                <a:solidFill>
                  <a:srgbClr val="6B6B6B"/>
                </a:solidFill>
              </a:rPr>
              <a:t>把传闻窗口当预热节点；官方确认后第一时间实测发布。</a:t>
            </a:r>
          </a:p>
        </p:txBody>
      </p:sp>
    </p:spTree>
    <p:extLst>
      <p:ext uri="{BB962C8B-B14F-4D97-AF65-F5344CB8AC3E}">
        <p14:creationId xmlns:p14="http://schemas.microsoft.com/office/powerpoint/2010/main" val="1882986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14D50-0F85-44D1-9265-E783ED20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F1F"/>
                </a:solidFill>
              </a:defRPr>
            </a:pPr>
            <a:r>
              <a:rPr sz="1800" b="1">
                <a:solidFill>
                  <a:srgbClr val="1F1F1F"/>
                </a:solidFill>
              </a:rPr>
              <a:t>oFox.ai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B0231-C6F0-438C-A577-D1D3A2E9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0E7BC-6F60-48D0-B7E9-C9C275A2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000"/>
                </a:solidFill>
              </a:defRPr>
            </a:pPr>
            <a:r>
              <a:rPr sz="1050" b="1">
                <a:solidFill>
                  <a:srgbClr val="FF5000"/>
                </a:solidFill>
              </a:rPr>
              <a:t>IDEA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5FBE8-7196-429B-997F-BDF6BF50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1F"/>
                </a:solidFill>
              </a:defRPr>
            </a:pPr>
            <a:r>
              <a:rPr sz="3150" b="1">
                <a:solidFill>
                  <a:srgbClr val="1F1F1F"/>
                </a:solidFill>
              </a:rPr>
              <a:t>OpenRouter 成本对照：让“折扣”变成可转发的账单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7D622-8DE0-4721-9759-C54D1DE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952625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F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8C1FE-FA5E-4327-BDCB-B15326BC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5000"/>
                </a:solidFill>
              </a:defRPr>
            </a:pPr>
            <a:r>
              <a:rPr sz="1125" b="1">
                <a:solidFill>
                  <a:srgbClr val="FF5000"/>
                </a:solidFill>
              </a:rPr>
              <a:t>CURRENT DISCOUNTS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50CB9-2697-46EA-8E65-324FB65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1F1F"/>
                </a:solidFill>
              </a:defRPr>
            </a:pPr>
            <a:r>
              <a:rPr sz="2550" b="1">
                <a:solidFill>
                  <a:srgbClr val="1F1F1F"/>
                </a:solidFill>
              </a:rPr>
              <a:t>5 折 / 8 折 / 充值优惠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B3213-3289-47CE-8541-1C29659F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B"/>
                </a:solidFill>
              </a:defRPr>
            </a:pPr>
            <a:r>
              <a:rPr sz="1500" b="0">
                <a:solidFill>
                  <a:srgbClr val="6B6B6B"/>
                </a:solidFill>
              </a:rPr>
              <a:t>不是泛泛说“oFox 更便宜”，而是挑 3–5 个正在打折的热门模型，统一输入量与输出量，展示最终支出。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7DBAB-8BF8-4F60-95E8-BC16A3B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162550" cy="293370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DD28C-41D8-459C-851B-8B72D574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000"/>
                </a:solidFill>
              </a:defRPr>
            </a:pPr>
            <a:r>
              <a:rPr sz="1275" b="1">
                <a:solidFill>
                  <a:srgbClr val="FF5000"/>
                </a:solidFill>
              </a:rPr>
              <a:t>对比结构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9CE8A-0DAB-48B8-9BE7-6246BE14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000"/>
                </a:solidFill>
              </a:defRPr>
            </a:pPr>
            <a:r>
              <a:rPr sz="1275" b="1">
                <a:solidFill>
                  <a:srgbClr val="FF5000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D93D7-90F0-42EF-892D-8B4DD30C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1F"/>
                </a:solidFill>
              </a:defRPr>
            </a:pPr>
            <a:r>
              <a:rPr sz="1500" b="0">
                <a:solidFill>
                  <a:srgbClr val="1F1F1F"/>
                </a:solidFill>
              </a:rPr>
              <a:t>同一模型 / 同一 token 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89BE6-A3D1-4D3A-B75E-D4E8DBA4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000"/>
                </a:solidFill>
              </a:defRPr>
            </a:pPr>
            <a:r>
              <a:rPr sz="1275" b="1">
                <a:solidFill>
                  <a:srgbClr val="FF500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01C05-C386-48A6-8D2E-BA0EC19E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052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1F"/>
                </a:solidFill>
              </a:defRPr>
            </a:pPr>
            <a:r>
              <a:rPr sz="1500" b="0">
                <a:solidFill>
                  <a:srgbClr val="1F1F1F"/>
                </a:solidFill>
              </a:rPr>
              <a:t>oFox.ai 折后价格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46E55-757F-474A-8A01-ABD93826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000"/>
                </a:solidFill>
              </a:defRPr>
            </a:pPr>
            <a:r>
              <a:rPr sz="1275" b="1">
                <a:solidFill>
                  <a:srgbClr val="FF500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A0300-B294-4520-8471-51E8747E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195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1F1F"/>
                </a:solidFill>
              </a:defRPr>
            </a:pPr>
            <a:r>
              <a:rPr sz="1500" b="0">
                <a:solidFill>
                  <a:srgbClr val="1F1F1F"/>
                </a:solidFill>
              </a:rPr>
              <a:t>OpenRouter 实际充值与调用成本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3EDB6-3757-4E56-8E81-05B5AB9D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000"/>
                </a:solidFill>
              </a:defRPr>
            </a:pPr>
            <a:r>
              <a:rPr sz="1275" b="1">
                <a:solidFill>
                  <a:srgbClr val="FF5000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B70F0-A01B-4641-B581-75EBAC7B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最终差额 + 截图 + 核实日期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5A5A6-CFD0-4AE3-93FB-6F6BC40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000"/>
                </a:solidFill>
              </a:defRPr>
            </a:pPr>
            <a:r>
              <a:rPr sz="1200" b="1">
                <a:solidFill>
                  <a:srgbClr val="FF5000"/>
                </a:solidFill>
              </a:rPr>
              <a:t>Reddit 标题示例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D1D4B-28B8-47F7-91CE-701BEC4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1F"/>
                </a:solidFill>
              </a:defRPr>
            </a:pPr>
            <a:r>
              <a:rPr sz="1875" b="1">
                <a:solidFill>
                  <a:srgbClr val="1F1F1F"/>
                </a:solidFill>
              </a:rPr>
              <a:t>“I priced the same 5 models on oFox.ai and OpenRouter — here is the real checkout difference.”</a:t>
            </a:r>
          </a:p>
        </p:txBody>
      </p:sp>
    </p:spTree>
    <p:extLst>
      <p:ext uri="{BB962C8B-B14F-4D97-AF65-F5344CB8AC3E}">
        <p14:creationId xmlns:p14="http://schemas.microsoft.com/office/powerpoint/2010/main" val="197257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71AA6-BBA6-442B-9E00-5F72DF65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F1F"/>
                </a:solidFill>
              </a:defRPr>
            </a:pPr>
            <a:r>
              <a:rPr sz="1800" b="1">
                <a:solidFill>
                  <a:srgbClr val="1F1F1F"/>
                </a:solidFill>
              </a:rPr>
              <a:t>oFox.ai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192CA-863D-48FA-A410-0AAD330A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D4E40-C61A-4059-806D-49C11E5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000"/>
                </a:solidFill>
              </a:defRPr>
            </a:pPr>
            <a:r>
              <a:rPr sz="1050" b="1">
                <a:solidFill>
                  <a:srgbClr val="FF5000"/>
                </a:solidFill>
              </a:rPr>
              <a:t>IDEA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3B6A6-A0A1-439F-B8B8-3A233C30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1F"/>
                </a:solidFill>
              </a:defRPr>
            </a:pPr>
            <a:r>
              <a:rPr sz="3150" b="1">
                <a:solidFill>
                  <a:srgbClr val="1F1F1F"/>
                </a:solidFill>
              </a:rPr>
              <a:t>Wan 3.0 热点：先让视频结果自己说话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F6E7F-0B71-41D9-B356-93011471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858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65706-A8FB-4297-8031-15764AEC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12382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5000"/>
          </a:solidFill>
          <a:ln xmlns:a="http://schemas.openxmlformats.org/drawingml/2006/main" w="9525">
            <a:solidFill>
              <a:srgbClr val="FF5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AAE0F-AE9F-451D-B81A-B32243B9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WAN 3.0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4EC0F-F45C-4054-AC5E-5636AA5F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A7A7"/>
                </a:solidFill>
              </a:defRPr>
            </a:pPr>
            <a:r>
              <a:rPr sz="1350" b="1">
                <a:solidFill>
                  <a:srgbClr val="A7A7A7"/>
                </a:solidFill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A96D8-A932-4A45-B564-C54B8FE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0992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5000"/>
                </a:solidFill>
              </a:defRPr>
            </a:pPr>
            <a:r>
              <a:rPr sz="2700" b="1">
                <a:solidFill>
                  <a:srgbClr val="FF500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C4BBF-20ED-4C5F-933F-1465DDDF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14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13699-1442-4E48-9650-3AD5C85F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视频画面是第一屏；正文只解释生成条件。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4734D-6EF7-4BEC-AEAF-E139F54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BDBD"/>
                </a:solidFill>
              </a:defRPr>
            </a:pPr>
            <a:r>
              <a:rPr sz="1350" b="0">
                <a:solidFill>
                  <a:srgbClr val="BDBDBD"/>
                </a:solidFill>
              </a:rPr>
              <a:t>prompt · seed · 时长 · 分辨率 · 生成耗时 · 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3D095-B30C-418A-8FCC-6E5E0C3A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000"/>
                </a:solidFill>
              </a:defRPr>
            </a:pPr>
            <a:r>
              <a:rPr sz="1200" b="1">
                <a:solidFill>
                  <a:srgbClr val="FF5000"/>
                </a:solidFill>
              </a:rPr>
              <a:t>发布文案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58FE4-0852-428B-9962-13385550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1F1F"/>
                </a:solidFill>
              </a:defRPr>
            </a:pPr>
            <a:r>
              <a:rPr sz="2100" b="1">
                <a:solidFill>
                  <a:srgbClr val="1F1F1F"/>
                </a:solidFill>
              </a:rPr>
              <a:t>“I tested this prompt on Wan 3.0 on oFox.ai — here’s the result I got.”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216E7-7F53-498E-A08C-1C8C1F54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目标：蹭新模型热度，同时把 oFox.ai 自然放进完整复现信息里。</a:t>
            </a:r>
          </a:p>
        </p:txBody>
      </p:sp>
    </p:spTree>
    <p:extLst>
      <p:ext uri="{BB962C8B-B14F-4D97-AF65-F5344CB8AC3E}">
        <p14:creationId xmlns:p14="http://schemas.microsoft.com/office/powerpoint/2010/main" val="765536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0D76D-93D7-4941-B9C0-0FED8D7E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F1F"/>
                </a:solidFill>
              </a:defRPr>
            </a:pPr>
            <a:r>
              <a:rPr sz="1800" b="1">
                <a:solidFill>
                  <a:srgbClr val="1F1F1F"/>
                </a:solidFill>
              </a:rPr>
              <a:t>oFox.ai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50C34-1B25-4255-8E60-53CFA626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EE39F-DD75-4625-B71B-B1FCA4DE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000"/>
                </a:solidFill>
              </a:defRPr>
            </a:pPr>
            <a:r>
              <a:rPr sz="1050" b="1">
                <a:solidFill>
                  <a:srgbClr val="FF5000"/>
                </a:solidFill>
              </a:rPr>
              <a:t>IDEA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C032D-99FB-44B3-8952-62D31E55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1F"/>
                </a:solidFill>
              </a:defRPr>
            </a:pPr>
            <a:r>
              <a:rPr sz="3150" b="1">
                <a:solidFill>
                  <a:srgbClr val="1F1F1F"/>
                </a:solidFill>
              </a:rPr>
              <a:t>中美模型对比：同一条高难度 prompt，看谁更听话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A719F-29E4-42C3-9BB2-6F7C840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1F1F"/>
                </a:solidFill>
              </a:defRPr>
            </a:pPr>
            <a:r>
              <a:rPr sz="2100" b="1">
                <a:solidFill>
                  <a:srgbClr val="1F1F1F"/>
                </a:solidFill>
              </a:rPr>
              <a:t>同题，不做抽象 benchmark。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1CB70-8A34-4313-BF91-A7C8E545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把为 Wan 3.0 设计的复杂 prompt 原样交给海外视频模型，比较真实画面，而不是只看厂商分数。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A7A28-D74D-457D-877A-03E954BA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4290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709EE-15C3-4FDE-9E1F-73EB3F1A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34290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C798D-A3C6-4F86-BD5C-CEA0B235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1F1F"/>
                </a:solidFill>
              </a:defRPr>
            </a:pPr>
            <a:r>
              <a:rPr sz="2700" b="1">
                <a:solidFill>
                  <a:srgbClr val="1F1F1F"/>
                </a:solidFill>
              </a:rPr>
              <a:t>WAN 3.0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4C139-5545-48A1-AB14-9264580D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B"/>
                </a:solidFill>
              </a:defRPr>
            </a:pPr>
            <a:r>
              <a:rPr sz="1275" b="0">
                <a:solidFill>
                  <a:srgbClr val="6B6B6B"/>
                </a:solidFill>
              </a:rPr>
              <a:t>中国模型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3C84D-4E09-4DFA-9C12-2225B88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43350"/>
            <a:ext cx="23812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B23BD-38E9-4541-82AA-4AA8884A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100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SAME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EAFD4-69C4-45AE-8C94-9932F487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1F1F"/>
                </a:solidFill>
              </a:defRPr>
            </a:pPr>
            <a:r>
              <a:rPr sz="2400" b="1">
                <a:solidFill>
                  <a:srgbClr val="1F1F1F"/>
                </a:solidFill>
              </a:rPr>
              <a:t>海外视频模型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59F74-4F3C-4519-A9C8-46E4200E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B6B"/>
                </a:solidFill>
              </a:defRPr>
            </a:pPr>
            <a:r>
              <a:rPr sz="1275" b="0">
                <a:solidFill>
                  <a:srgbClr val="6B6B6B"/>
                </a:solidFill>
              </a:rPr>
              <a:t>美国 / 国际模型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1BC27-9CDF-4A31-9143-676F00DE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5000"/>
                </a:solidFill>
              </a:defRPr>
            </a:pPr>
            <a:r>
              <a:rPr sz="1575" b="1">
                <a:solidFill>
                  <a:srgbClr val="FF5000"/>
                </a:solidFill>
              </a:rPr>
              <a:t>比较维度：指令遵循 / 主体一致性 / 运动自然度 / 文字生成 / 成本</a:t>
            </a:r>
          </a:p>
        </p:txBody>
      </p:sp>
    </p:spTree>
    <p:extLst>
      <p:ext uri="{BB962C8B-B14F-4D97-AF65-F5344CB8AC3E}">
        <p14:creationId xmlns:p14="http://schemas.microsoft.com/office/powerpoint/2010/main" val="1793749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9D182-8199-4498-B457-B78D914C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F1F"/>
                </a:solidFill>
              </a:defRPr>
            </a:pPr>
            <a:r>
              <a:rPr sz="1800" b="1">
                <a:solidFill>
                  <a:srgbClr val="1F1F1F"/>
                </a:solidFill>
              </a:rPr>
              <a:t>oFox.ai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C5BE3-D9E0-44ED-AB72-05979CC4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C068-D107-4BF7-93F4-49F71634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000"/>
                </a:solidFill>
              </a:defRPr>
            </a:pPr>
            <a:r>
              <a:rPr sz="1050" b="1">
                <a:solidFill>
                  <a:srgbClr val="FF5000"/>
                </a:solidFill>
              </a:rPr>
              <a:t>IDEA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B996A-02E9-4D26-A833-5806285D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1F"/>
                </a:solidFill>
              </a:defRPr>
            </a:pPr>
            <a:r>
              <a:rPr sz="3150" b="1">
                <a:solidFill>
                  <a:srgbClr val="1F1F1F"/>
                </a:solidFill>
              </a:rPr>
              <a:t>GPT‑6 热点：把“可能的 6 月窗口”做成发布预案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4A60B-2201-473D-9791-A3EBDF9D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002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352BB-9B8A-4B8C-9A2F-2640A6C7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RUMOR / WATCHLIST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504A1-228F-4FDD-B559-6A7F2134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1F1F"/>
                </a:solidFill>
              </a:defRPr>
            </a:pPr>
            <a:r>
              <a:rPr sz="2400" b="1">
                <a:solidFill>
                  <a:srgbClr val="1F1F1F"/>
                </a:solidFill>
              </a:rPr>
              <a:t>不把 GPT‑6 发布时间写成事实。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0A345-77BE-48BC-83AA-5705AADB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B6B"/>
                </a:solidFill>
              </a:defRPr>
            </a:pPr>
            <a:r>
              <a:rPr sz="1500" b="0">
                <a:solidFill>
                  <a:srgbClr val="6B6B6B"/>
                </a:solidFill>
              </a:rPr>
              <a:t>现阶段只做内容和测试模板；等 OpenAI 官方确认型号、时间与 API 可用性后，再启动发布。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59EE1-D872-4F4F-B69F-DDB7EB1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44958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AD518-514A-448F-92ED-3E6E7569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000"/>
                </a:solidFill>
              </a:defRPr>
            </a:pPr>
            <a:r>
              <a:rPr sz="1200" b="1">
                <a:solidFill>
                  <a:srgbClr val="FF5000"/>
                </a:solidFill>
              </a:rPr>
              <a:t>T‑7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51445-8F47-4D76-8ACD-73E64076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预备 3 条真实任务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837F3-72A6-420E-971C-B542E1A6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000"/>
                </a:solidFill>
              </a:defRPr>
            </a:pPr>
            <a:r>
              <a:rPr sz="1200" b="1">
                <a:solidFill>
                  <a:srgbClr val="FF5000"/>
                </a:solidFill>
              </a:rPr>
              <a:t>T+0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C0700-1084-4C20-802F-EF5E319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确认 API / 价格 / 模型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FA12C-E5E1-41D8-9C95-6CAD577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000"/>
                </a:solidFill>
              </a:defRPr>
            </a:pPr>
            <a:r>
              <a:rPr sz="1200" b="1">
                <a:solidFill>
                  <a:srgbClr val="FF5000"/>
                </a:solidFill>
              </a:rPr>
              <a:t>T+24h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B078B-E094-4849-8022-3E6750D7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完成 oFox.ai 首轮实测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D9B58-34C9-4440-B2E9-915F9D44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10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000"/>
                </a:solidFill>
              </a:defRPr>
            </a:pPr>
            <a:r>
              <a:rPr sz="1200" b="1">
                <a:solidFill>
                  <a:srgbClr val="FF5000"/>
                </a:solidFill>
              </a:rPr>
              <a:t>T+48h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2B6F0-1CBD-4325-A2BD-B02A6BE4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按社区发布不同版本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0388F-3428-4083-819D-BDE09E1D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000"/>
                </a:solidFill>
              </a:defRPr>
            </a:pPr>
            <a:r>
              <a:rPr sz="1200" b="1">
                <a:solidFill>
                  <a:srgbClr val="FF5000"/>
                </a:solidFill>
              </a:rPr>
              <a:t>可预备标题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52B51-5998-46D9-9FB4-51020446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1F1F"/>
                </a:solidFill>
              </a:defRPr>
            </a:pPr>
            <a:r>
              <a:rPr sz="1875" b="1">
                <a:solidFill>
                  <a:srgbClr val="1F1F1F"/>
                </a:solidFill>
              </a:rPr>
              <a:t>“GPT‑6 is live. I ran the same real task on GPT‑6, GPT‑5.6 and DeepSeek — cost, retries and final output.”</a:t>
            </a:r>
          </a:p>
        </p:txBody>
      </p:sp>
    </p:spTree>
    <p:extLst>
      <p:ext uri="{BB962C8B-B14F-4D97-AF65-F5344CB8AC3E}">
        <p14:creationId xmlns:p14="http://schemas.microsoft.com/office/powerpoint/2010/main" val="1820606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3C1524-6F77-44DE-A585-0AE3DC2C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1F1F"/>
                </a:solidFill>
              </a:defRPr>
            </a:pPr>
            <a:r>
              <a:rPr sz="1800" b="1">
                <a:solidFill>
                  <a:srgbClr val="1F1F1F"/>
                </a:solidFill>
              </a:rPr>
              <a:t>oFox.ai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6B5F2-6A16-4B3B-A61A-3AB58993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1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5000"/>
                </a:solidFill>
              </a:defRPr>
            </a:pPr>
            <a:r>
              <a:rPr sz="1350" b="1">
                <a:solidFill>
                  <a:srgbClr val="FF5000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85E6A-2385-44DB-B2D9-6ECA323E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000"/>
                </a:solidFill>
              </a:defRPr>
            </a:pPr>
            <a:r>
              <a:rPr sz="1050" b="1">
                <a:solidFill>
                  <a:srgbClr val="FF5000"/>
                </a:solidFill>
              </a:rPr>
              <a:t>COMMUNITY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B9E7F-A4DC-4E67-9FBE-48DBB29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1F1F"/>
                </a:solidFill>
              </a:defRPr>
            </a:pPr>
            <a:r>
              <a:rPr sz="3150" b="1">
                <a:solidFill>
                  <a:srgbClr val="1F1F1F"/>
                </a:solidFill>
              </a:rPr>
              <a:t>社区只做选择：每个思路发到最匹配的地方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9123E-CFCA-45E9-AF21-ADF6B6EE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B"/>
                </a:solidFill>
              </a:defRPr>
            </a:pPr>
            <a:r>
              <a:rPr sz="1200" b="1">
                <a:solidFill>
                  <a:srgbClr val="6B6B6B"/>
                </a:solidFill>
              </a:rPr>
              <a:t>社区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C5346-C97A-49B9-B994-4BEFD35A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52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B"/>
                </a:solidFill>
              </a:defRPr>
            </a:pPr>
            <a:r>
              <a:rPr sz="1200" b="1">
                <a:solidFill>
                  <a:srgbClr val="6B6B6B"/>
                </a:solidFill>
              </a:rPr>
              <a:t>适合的讨论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5432F-0268-4560-9EC6-6796766B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6B6B"/>
                </a:solidFill>
              </a:defRPr>
            </a:pPr>
            <a:r>
              <a:rPr sz="1200" b="1">
                <a:solidFill>
                  <a:srgbClr val="6B6B6B"/>
                </a:solidFill>
              </a:rPr>
              <a:t>对应思路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A6C10-EFB6-4AF7-B7CE-D708C7C0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</a:defRPr>
            </a:pPr>
            <a:r>
              <a:rPr sz="1650" b="1">
                <a:solidFill>
                  <a:srgbClr val="1F1F1F"/>
                </a:solidFill>
              </a:rPr>
              <a:t>r/GeminiAI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17C5B-5DDD-448B-8029-1674EC8A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90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模型体验 / 同题对比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DF708-7D9E-4E14-9349-576324D5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000"/>
                </a:solidFill>
              </a:defRPr>
            </a:pPr>
            <a:r>
              <a:rPr sz="1425" b="1">
                <a:solidFill>
                  <a:srgbClr val="FF5000"/>
                </a:solidFill>
              </a:rPr>
              <a:t>思路 3、思路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9F763-472F-4F92-9D9B-9013991E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90F78-EF2F-4027-9D63-2FF8E7F2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</a:defRPr>
            </a:pPr>
            <a:r>
              <a:rPr sz="1650" b="1">
                <a:solidFill>
                  <a:srgbClr val="1F1F1F"/>
                </a:solidFill>
              </a:rPr>
              <a:t>r/LLMDevs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BA3CE-1AE6-419E-8F18-458A14B8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API 成本 / 工程测试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ADD41-26D6-409B-921D-4DC795BF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000"/>
                </a:solidFill>
              </a:defRPr>
            </a:pPr>
            <a:r>
              <a:rPr sz="1425" b="1">
                <a:solidFill>
                  <a:srgbClr val="FF5000"/>
                </a:solidFill>
              </a:rPr>
              <a:t>思路 1、思路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0C2BB-AB97-4EDF-BE77-DE7793A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F31E3-550D-49F4-B802-CAA72876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</a:defRPr>
            </a:pPr>
            <a:r>
              <a:rPr sz="1650" b="1">
                <a:solidFill>
                  <a:srgbClr val="1F1F1F"/>
                </a:solidFill>
              </a:rPr>
              <a:t>r/kimi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30571-C475-4AF2-A7EE-637B5A86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957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中国模型 / Agent 用户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14438-57F1-48EF-87A1-0124AA99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000"/>
                </a:solidFill>
              </a:defRPr>
            </a:pPr>
            <a:r>
              <a:rPr sz="1425" b="1">
                <a:solidFill>
                  <a:srgbClr val="FF5000"/>
                </a:solidFill>
              </a:rPr>
              <a:t>思路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1C10A-9CAB-45C0-AE3D-CCAF5CD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F7BA8-5A54-4E62-B85B-01F5759D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</a:defRPr>
            </a:pPr>
            <a:r>
              <a:rPr sz="1650" b="1">
                <a:solidFill>
                  <a:srgbClr val="1F1F1F"/>
                </a:solidFill>
              </a:rPr>
              <a:t>r/LocalLLaMA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D0A6A-8BA9-4324-9143-E4A693A5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481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DeepSeek / Qwen / 开源模型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A2367-CCD6-462D-94BA-2F8DD190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000"/>
                </a:solidFill>
              </a:defRPr>
            </a:pPr>
            <a:r>
              <a:rPr sz="1425" b="1">
                <a:solidFill>
                  <a:srgbClr val="FF5000"/>
                </a:solidFill>
              </a:rPr>
              <a:t>思路 1、思路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3C66E-A2A2-4BC5-B07B-65DB043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667BF-5E92-4CDD-9388-7B2540DF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</a:defRPr>
            </a:pPr>
            <a:r>
              <a:rPr sz="1650" b="1">
                <a:solidFill>
                  <a:srgbClr val="1F1F1F"/>
                </a:solidFill>
              </a:rPr>
              <a:t>r/StableDiffusion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19EE7-BD9F-4890-8D43-F1C988D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006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图像与视频生成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58FA0-E2D4-4048-8EE5-4DBAEFEE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000"/>
                </a:solidFill>
              </a:defRPr>
            </a:pPr>
            <a:r>
              <a:rPr sz="1425" b="1">
                <a:solidFill>
                  <a:srgbClr val="FF5000"/>
                </a:solidFill>
              </a:rPr>
              <a:t>思路 2、思路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AEB1E-37CA-432E-BF49-9EDA65B4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A16FE-A045-4194-95BC-EED31562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1F1F"/>
                </a:solidFill>
              </a:defRPr>
            </a:pPr>
            <a:r>
              <a:rPr sz="1650" b="1">
                <a:solidFill>
                  <a:srgbClr val="1F1F1F"/>
                </a:solidFill>
              </a:rPr>
              <a:t>r/singularity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AFA26-7CAF-4109-89C3-BEFCCAF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53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B6B"/>
                </a:solidFill>
              </a:defRPr>
            </a:pPr>
            <a:r>
              <a:rPr sz="1425" b="0">
                <a:solidFill>
                  <a:srgbClr val="6B6B6B"/>
                </a:solidFill>
              </a:rPr>
              <a:t>模型发布热点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D9482F-C09D-492B-8271-B09C6111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53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000"/>
                </a:solidFill>
              </a:defRPr>
            </a:pPr>
            <a:r>
              <a:rPr sz="1425" b="1">
                <a:solidFill>
                  <a:srgbClr val="FF5000"/>
                </a:solidFill>
              </a:rPr>
              <a:t>思路 2、思路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7F3D6-C70D-410D-B8CA-A99F01DD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0935C2-5C1F-487D-88A6-B639BF9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优先顺序：先做 Wan 3.0 视频 → 再做折扣价格对照 → 最后准备 GPT‑6 发布模板。</a:t>
            </a:r>
          </a:p>
        </p:txBody>
      </p:sp>
    </p:spTree>
    <p:extLst>
      <p:ext uri="{BB962C8B-B14F-4D97-AF65-F5344CB8AC3E}">
        <p14:creationId xmlns:p14="http://schemas.microsoft.com/office/powerpoint/2010/main" val="44217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2026-08-25T07:32:58.6920000Z</dcterms:created>
  <dcterms:modified xsi:type="dcterms:W3CDTF">2026-08-25T07:32:58.6930000Z</dcterms:modified>
</coreProperties>
</file>